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6aee7d134443e9" /><Relationship Type="http://schemas.openxmlformats.org/officeDocument/2006/relationships/extended-properties" Target="/docProps/app.xml" Id="R95cd675411a148bf" /><Relationship Type="http://schemas.openxmlformats.org/officeDocument/2006/relationships/officeDocument" Target="/ppt/presentation.xml" Id="Ra1e21a7efe974a27" /></Relationships>
</file>

<file path=ppt/presentation.xml><?xml version="1.0" encoding="utf-8"?>
<p:presentation xmlns:p="http://schemas.openxmlformats.org/presentationml/2006/main">
  <p:sldMasterIdLst>
    <p:sldMasterId xmlns:r="http://schemas.openxmlformats.org/officeDocument/2006/relationships" id="2147483648" r:id="Rf5b4cf3aaac7438b"/>
  </p:sldMasterIdLst>
  <p:notesMasterIdLst>
    <p:notesMasterId xmlns:r="http://schemas.openxmlformats.org/officeDocument/2006/relationships" r:id="R3eae588aa02241eb"/>
  </p:notesMasterIdLst>
  <p:sldIdLst>
    <p:sldId xmlns:r="http://schemas.openxmlformats.org/officeDocument/2006/relationships" id="256" r:id="R9fbfd5322b404313"/>
    <p:sldId xmlns:r="http://schemas.openxmlformats.org/officeDocument/2006/relationships" id="257" r:id="R47c3b15a8cd94be5"/>
    <p:sldId xmlns:r="http://schemas.openxmlformats.org/officeDocument/2006/relationships" id="258" r:id="R78d1750968224c76"/>
    <p:sldId xmlns:r="http://schemas.openxmlformats.org/officeDocument/2006/relationships" id="259" r:id="Rb2942e2919d140e6"/>
    <p:sldId xmlns:r="http://schemas.openxmlformats.org/officeDocument/2006/relationships" id="260" r:id="R4decf113ae264ac3"/>
    <p:sldId xmlns:r="http://schemas.openxmlformats.org/officeDocument/2006/relationships" id="261" r:id="Rde9786b217b34ee3"/>
    <p:sldId xmlns:r="http://schemas.openxmlformats.org/officeDocument/2006/relationships" id="262" r:id="R6c75e7ac4d44489e"/>
    <p:sldId xmlns:r="http://schemas.openxmlformats.org/officeDocument/2006/relationships" id="263" r:id="Ra43ade00cae14d91"/>
    <p:sldId xmlns:r="http://schemas.openxmlformats.org/officeDocument/2006/relationships" id="264" r:id="Rd4b4f509e1e04f2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fb0420ccb64882" /><Relationship Type="http://schemas.openxmlformats.org/officeDocument/2006/relationships/slideMaster" Target="/ppt/slideMasters/slideMaster1.xml" Id="Rf5b4cf3aaac7438b" /><Relationship Type="http://schemas.openxmlformats.org/officeDocument/2006/relationships/notesMaster" Target="/ppt/notesMasters/notesMaster1.xml" Id="R3eae588aa02241eb" /><Relationship Type="http://schemas.openxmlformats.org/officeDocument/2006/relationships/presProps" Target="/ppt/presProps.xml" Id="R028173ed0df7401e" /><Relationship Type="http://schemas.openxmlformats.org/officeDocument/2006/relationships/tableStyles" Target="/ppt/tableStyles.xml" Id="R9dce144d1c4d4e45" /><Relationship Type="http://schemas.openxmlformats.org/officeDocument/2006/relationships/slide" Target="/ppt/slides/slide1.xml" Id="R9fbfd5322b404313" /><Relationship Type="http://schemas.openxmlformats.org/officeDocument/2006/relationships/slide" Target="/ppt/slides/slide2.xml" Id="R47c3b15a8cd94be5" /><Relationship Type="http://schemas.openxmlformats.org/officeDocument/2006/relationships/slide" Target="/ppt/slides/slide3.xml" Id="R78d1750968224c76" /><Relationship Type="http://schemas.openxmlformats.org/officeDocument/2006/relationships/slide" Target="/ppt/slides/slide4.xml" Id="Rb2942e2919d140e6" /><Relationship Type="http://schemas.openxmlformats.org/officeDocument/2006/relationships/slide" Target="/ppt/slides/slide5.xml" Id="R4decf113ae264ac3" /><Relationship Type="http://schemas.openxmlformats.org/officeDocument/2006/relationships/slide" Target="/ppt/slides/slide6.xml" Id="Rde9786b217b34ee3" /><Relationship Type="http://schemas.openxmlformats.org/officeDocument/2006/relationships/slide" Target="/ppt/slides/slide7.xml" Id="R6c75e7ac4d44489e" /><Relationship Type="http://schemas.openxmlformats.org/officeDocument/2006/relationships/slide" Target="/ppt/slides/slide8.xml" Id="Ra43ade00cae14d91" /><Relationship Type="http://schemas.openxmlformats.org/officeDocument/2006/relationships/slide" Target="/ppt/slides/slide9.xml" Id="Rd4b4f509e1e04f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bbfad9182d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19ae055c9340ae" /><Relationship Type="http://schemas.openxmlformats.org/officeDocument/2006/relationships/notesMaster" Target="/ppt/notesMasters/notesMaster1.xml" Id="R70eba4f5b24745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0b27e9fb894802" /><Relationship Type="http://schemas.openxmlformats.org/officeDocument/2006/relationships/notesMaster" Target="/ppt/notesMasters/notesMaster1.xml" Id="R3947aa44ad80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c0b6ba607b43fe" /><Relationship Type="http://schemas.openxmlformats.org/officeDocument/2006/relationships/notesMaster" Target="/ppt/notesMasters/notesMaster1.xml" Id="R6ad1b66f9a0f4c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3d9a9b2aad430d" /><Relationship Type="http://schemas.openxmlformats.org/officeDocument/2006/relationships/notesMaster" Target="/ppt/notesMasters/notesMaster1.xml" Id="R2e8f7cf60d1d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72f69281a9414d" /><Relationship Type="http://schemas.openxmlformats.org/officeDocument/2006/relationships/notesMaster" Target="/ppt/notesMasters/notesMaster1.xml" Id="R7d635087822742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0c377cd6054a26" /><Relationship Type="http://schemas.openxmlformats.org/officeDocument/2006/relationships/notesMaster" Target="/ppt/notesMasters/notesMaster1.xml" Id="Rf753ec3a2c0241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ce2a5c644e4671" /><Relationship Type="http://schemas.openxmlformats.org/officeDocument/2006/relationships/notesMaster" Target="/ppt/notesMasters/notesMaster1.xml" Id="R9dfb9c0b772c4a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ece86642924b45" /><Relationship Type="http://schemas.openxmlformats.org/officeDocument/2006/relationships/notesMaster" Target="/ppt/notesMasters/notesMaster1.xml" Id="R9c20f238cd4541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ea4dbd95b84c57" /><Relationship Type="http://schemas.openxmlformats.org/officeDocument/2006/relationships/notesMaster" Target="/ppt/notesMasters/notesMaster1.xml" Id="R7a304bae909444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PatientKeeper Retorno by Athos Felipe, FIGUEIRA AI, AMD ACT III. Cover is the approved R10 artwork exactly, including the official wordmark, desk-calendar conceptual image, Sequel typography and bold italic RETORNO. The cover is an image; its editable native composition remains assets/ACT-III-20261012/UX-R10/COVER-R10.html. All product records in this presentation are fictional. The cover is a concept illustration, not a photograph of a real clinic. R15 presentation accompanies final video R11 with synthetic narration from Envato AI Voice / Benjamin. The same original narration describes five 14 October AMD Token Factory attempts; a separate 16 October Evolus local pilot appears visually only, with explicit date labels. No human-recorded narration is used in R11.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origin: Athos described developing solutions from problems encountered in everyday work with doctors served by FIGUEIRA. This is qualitative experience and a product hypothesis, not a survey, measured prevalence or claim about a named clinic. No staff blame, patient identity or clinical outcome is asserted. Sources: user briefing of 13–14 October 2026; README.md; BASE-PREEXISTENTE.md. Screenshot is an actual isolated synthetic doctor workspace in mobile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app/care-store.mjs, app/care-journey-client.mjs and docs/CARE-JOURNEY-20261014.md. The episode SIM-CARE-01 uses only fictional doctors. A human chooses phase, responsible doctor, next administrative action and due time. Clinical protocol status remains pending with no clinical instructions, medication, fasting, weight-bearing or postoperative interval. The surgery label is an invented scenario, not an indication. The doctor can complete this demonstration without a receptionist. No real appointment is booked.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app/voice-transcription.mjs, app/voice-transcription-worker.py, app/care-journey.mjs note_prepare and docs/CARE-JOURNEY-20261014.md. Real local ASR used faster-whisper, an already cached model, CPU int8, synthetic WAV, offline guards and a bounded worker. The note copies only selected literal segments and cites their IDs. It is not a model-generated clinical summary or signed medical record. Changing the transcript invalidates the previous note. ASR execution and structural validation do not establish clinical transcription accuracy. The public static demo disables audio transcription; only the explicitly configured local version transcribes.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preference, protocol_update, message_prepare, message_review, contact_simulate, response_record and close; app/care-journey-client.mjs; docs/CARE-JOURNEY-20261014.md. Contact refusal or unknown preference blocks the action. Source or message changes invalidate prior review. A simulated contact requires plan, opt-in, current source review and exact message review. A recorded response or refusal supports human administrative resolution. No WhatsApp message, delivery receipt or read receipt is created. Amplimed remains in standby. The product does not authenticate a clinician or sign a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16 October pilot. Sources: evidence/GEMMA-RECHECK-20261016/LOCAL-APP-PILOT-RECEIPT.json, LOCAL-APP-RUNTIME-OBSERVATIONS.json, EVOLUS-APP-RUN-API-READBACK.json, EVOLUS-API-WORKSPACE-READBACK.json and PATIENTKEEPER-EVOLUS-GEMMA-LOCAL.png. A real UI-initiated application-to-API execution 20fc006b-93c9-f111-bf5b-6045bd9ce552 returned a candidate in 8149 ms with two exact literal source citations and mandatory human review. Before/after synthetic administrative state hashes match. The configured Evolus model key is own/gemma-4-31b-it, with the saved AMD Token Factory connection; execution metadata does not independently verify physical weights/model identity or AMD hardware. No new clinical note, message, booking or state mutation was produced. One successful run is not a performance or accuracy benchmark. Separate 14 October Gemma experiment: five unique attempts, three affirmative candidates, one missing-source abstention and one local timeout, preserved separately in docs/recorded-gemma-runs.json. Do not aggregate these into a clinical accuracy claim. The public demo displays recorded evidence, with no live model inference or audio transcription. Google/Evolus prize eligibility is not asserted. The screenshot is cropped only to remove browser surfaces; source records retain their original Portuguese spelling.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app/care-journey.mjs review invalidation and opt-out guards; app/evidence.mjs and app/server.mjs conflict/clinical/stale controls; BASE-PREEXISTENTE.md. The 5 October administrative scaffold predates ACT III and remains declared. Work of 12 October adds source review, cited receipts, model contract, real Qwen execution, recorded playback and UX. Work of 14 October adds a doctor workspace, local CPU ASR, extractive note and Gemma service tests/recorded evidence. Current-source checks and revisions block reuse of stale reviews. Clinical and known-conflict controls made zero provider requests in the Gemma pilot. Real surgical care instructions require a protocol authorised by the medical team; inspected educational PDFs do not supply that protocol. No baseline work is represented as newly created during the event. Work of 16 October adds an optional local Evolus API adapter using the saved Gemma connection, bounded workflow execution, polling, citation validation, stale-context and revision checks, plus a real application pilot with unchanged administrative state. The adapter defaults off and is not a public live backend. Sources: integration/evolus-pilot/ and evidence/GEMMA-RECHECK-20261016/. No pre-event work is represented as created during the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reported six records per day and fifteen minutes of documentation per record, explicitly documentation rather than the whole consultation. Baseline: 6×15=90 minutes/day, reported rather than independently measured. Ten minutes of assisted total per record is an illustrative assumption including preparation, doctor review, corrections and overhead: 6×10=60 minutes/day. Conditional net difference: 90-60=30 minutes/day only if the assumed assisted total is achieved. This is not a measured PatientKeeper result or promised outcome. ASR and note drafting overlap and must not be counted twice. Model latency is not doctor time saved. A previous slide cited an informal experience with another product; R14 omits it to keep the PatientKeeper value hypothesis distinct and avoid attribution confusion. Current local ASR supports short fictional dictation up to 120 seconds; its output is an extractive source for review, not a generated clinical record. Public static demo has no audio transcription. Source: explicit user planning input and current source code/ASR receipts. Clinical outcomes, adoption and operational savings remain unmeasured.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docs/CARE-JOURNEY-20261014.md; actual ASR receipts; evidence/GEMMA-RECHECK-20261016/LOCAL-APP-PILOT-RECEIPT.json and LOCAL-APP-RUNTIME-OBSERVATIONS.json. The proposed benefit remains a hypothesis: clearer review of unfinished administrative work while the doctor retains decisions. Evidence includes real local transcription of short synthetic audio, persisted synthetic progress, the separate recorded AMD service experiments and one real PatientKeeper-to-Evolus API result through a configured Gemma connection. This does not establish clinical accuracy, savings, adoption, ROI or prize eligibility. Public demo is a static demonstration/replay, without live inference or audio transcription. The accompanying final video R11 uses the original synthetic Envato AI Voice / Benjamin narration. The 16 October Evolus local pilot is a separate dated visual update; the voice describes the earlier 14 October AMD service tests. No human or Adobe-processed recording is used in R11. This editable deck uses native Inter text and unchanged raster cover/logo/UI images. Final publication and LabLab update are separate actions by the root agent. URLs are canonical demo and public source repository. Next evaluation should measure task completion time and correction/rework effort in a controlled practice pilot before real clinical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ff2aba5b9349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107cfd5dd042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4cd5987fd74e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18cf9b92d449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3cf3ec6efd45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9adb29101e48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DB699F-EC20-4ACF-A3FB-EBF82B98522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951951-0E35-4FBB-B7D7-5D5582523CA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A33B7A-7B69-43C3-A768-E82565028DD6}"/>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811562-CE13-4504-9E53-F91ED0B066D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41A90F-3C72-4954-B5E7-F6DD6D9BF52F}"/>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11CF16-43A4-401F-AB4B-584337AEAC0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427650-31D8-410B-8FD3-36C17BE67D5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79FC34-9550-4318-A57E-AE4E9DE6225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4CC6C6-8ED3-4AB8-90F4-88DB4E596F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7AC053-5645-4D00-BDB1-B7DBDEDF796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2c3aca19a44adc" /><Relationship Type="http://schemas.openxmlformats.org/officeDocument/2006/relationships/slideLayout" Target="/ppt/slideLayouts/slideLayout1.xml" Id="Rad298ec4659d46b4" /><Relationship Type="http://schemas.openxmlformats.org/officeDocument/2006/relationships/slideLayout" Target="/ppt/slideLayouts/slideLayout2.xml" Id="R6027863549654b3b" /><Relationship Type="http://schemas.openxmlformats.org/officeDocument/2006/relationships/slideLayout" Target="/ppt/slideLayouts/slideLayout3.xml" Id="R51698c12f6694f5c" /><Relationship Type="http://schemas.openxmlformats.org/officeDocument/2006/relationships/slideLayout" Target="/ppt/slideLayouts/slideLayout4.xml" Id="R624612301b214319" /><Relationship Type="http://schemas.openxmlformats.org/officeDocument/2006/relationships/slideLayout" Target="/ppt/slideLayouts/slideLayout5.xml" Id="Rb6e6eb85f6fc4037" /><Relationship Type="http://schemas.openxmlformats.org/officeDocument/2006/relationships/slideLayout" Target="/ppt/slideLayouts/slideLayout6.xml" Id="Rf6b8745a675d42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298ec4659d46b4"/>
    <p:sldLayoutId xmlns:r="http://schemas.openxmlformats.org/officeDocument/2006/relationships" id="2147483650" r:id="R6027863549654b3b"/>
    <p:sldLayoutId xmlns:r="http://schemas.openxmlformats.org/officeDocument/2006/relationships" id="2147483651" r:id="R51698c12f6694f5c"/>
    <p:sldLayoutId xmlns:r="http://schemas.openxmlformats.org/officeDocument/2006/relationships" id="2147483652" r:id="R624612301b214319"/>
    <p:sldLayoutId xmlns:r="http://schemas.openxmlformats.org/officeDocument/2006/relationships" id="2147483653" r:id="Rb6e6eb85f6fc4037"/>
    <p:sldLayoutId xmlns:r="http://schemas.openxmlformats.org/officeDocument/2006/relationships" id="2147483654" r:id="Rf6b8745a675d42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8217a6250f4a97" /><Relationship Type="http://schemas.openxmlformats.org/officeDocument/2006/relationships/image" Target="/ppt/media/image.png" Id="R85db5f82c857400d" /><Relationship Type="http://schemas.openxmlformats.org/officeDocument/2006/relationships/notesSlide" Target="/ppt/notesSlides/notesSlide1.xml" Id="Re7fd929032f546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26c80c0c3d41cd" /><Relationship Type="http://schemas.openxmlformats.org/officeDocument/2006/relationships/image" Target="/ppt/media/image2.png" Id="R998536052ca24f74" /><Relationship Type="http://schemas.openxmlformats.org/officeDocument/2006/relationships/image" Target="/ppt/media/image.jpeg" Id="R879cc1b9783d4437" /><Relationship Type="http://schemas.openxmlformats.org/officeDocument/2006/relationships/notesSlide" Target="/ppt/notesSlides/notesSlide2.xml" Id="R5df44170d3be46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bee2d6b3454cb1" /><Relationship Type="http://schemas.openxmlformats.org/officeDocument/2006/relationships/image" Target="/ppt/media/image3.png" Id="R68583b86fc3d4c31" /><Relationship Type="http://schemas.openxmlformats.org/officeDocument/2006/relationships/image" Target="/ppt/media/image2.jpeg" Id="R495ced39f4ee45d2" /><Relationship Type="http://schemas.openxmlformats.org/officeDocument/2006/relationships/notesSlide" Target="/ppt/notesSlides/notesSlide3.xml" Id="R5dadcd45131e45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0c79c216d24aef" /><Relationship Type="http://schemas.openxmlformats.org/officeDocument/2006/relationships/image" Target="/ppt/media/image4.png" Id="R7bf40132a35742f9" /><Relationship Type="http://schemas.openxmlformats.org/officeDocument/2006/relationships/image" Target="/ppt/media/image3.jpeg" Id="R83148f50a6e64fef" /><Relationship Type="http://schemas.openxmlformats.org/officeDocument/2006/relationships/notesSlide" Target="/ppt/notesSlides/notesSlide4.xml" Id="Rcfc4c7d8cff04e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ae726d00d3462c" /><Relationship Type="http://schemas.openxmlformats.org/officeDocument/2006/relationships/image" Target="/ppt/media/image5.png" Id="R2a2eee2c42d14f35" /><Relationship Type="http://schemas.openxmlformats.org/officeDocument/2006/relationships/image" Target="/ppt/media/image4.jpeg" Id="R43de0f6e930d471e" /><Relationship Type="http://schemas.openxmlformats.org/officeDocument/2006/relationships/notesSlide" Target="/ppt/notesSlides/notesSlide5.xml" Id="R68967046106348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a25cc375a64467" /><Relationship Type="http://schemas.openxmlformats.org/officeDocument/2006/relationships/image" Target="/ppt/media/image6.png" Id="R131f86f98d774c7e" /><Relationship Type="http://schemas.openxmlformats.org/officeDocument/2006/relationships/image" Target="/ppt/media/image7.png" Id="Rb7387fe0630a4ed4" /><Relationship Type="http://schemas.openxmlformats.org/officeDocument/2006/relationships/notesSlide" Target="/ppt/notesSlides/notesSlide6.xml" Id="R360c2ef486574d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e76e2af4ce0479d" /><Relationship Type="http://schemas.openxmlformats.org/officeDocument/2006/relationships/image" Target="/ppt/media/image8.png" Id="R75bbe03111634d4e" /><Relationship Type="http://schemas.openxmlformats.org/officeDocument/2006/relationships/notesSlide" Target="/ppt/notesSlides/notesSlide7.xml" Id="R0a9685c97af545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326bf130ce453f" /><Relationship Type="http://schemas.openxmlformats.org/officeDocument/2006/relationships/image" Target="/ppt/media/image9.png" Id="R1eccac584ab34832" /><Relationship Type="http://schemas.openxmlformats.org/officeDocument/2006/relationships/notesSlide" Target="/ppt/notesSlides/notesSlide8.xml" Id="R5c75f006dc5e4c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8c5a2908eb461b" /><Relationship Type="http://schemas.openxmlformats.org/officeDocument/2006/relationships/image" Target="/ppt/media/image10.png" Id="Rc05be8da79d3479b" /><Relationship Type="http://schemas.openxmlformats.org/officeDocument/2006/relationships/hyperlink" Target="https://athosfif.github.io/patientkeeper-retorno-act-iii/" TargetMode="External" Id="Re89f2bf6cd6b46b4" /><Relationship Type="http://schemas.openxmlformats.org/officeDocument/2006/relationships/hyperlink" Target="https://github.com/athosfif/patientkeeper-retorno-act-iii" TargetMode="External" Id="R7b8f3fe0f43f476e" /><Relationship Type="http://schemas.openxmlformats.org/officeDocument/2006/relationships/notesSlide" Target="/ppt/notesSlides/notesSlide9.xml" Id="Rb344cd854e2e4ec5" /></Relationships>
</file>

<file path=ppt/slides/slide1.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E787A7D-2CE0-4F96-B078-FDF52BD7F74F}"/>
              </a:ext>
            </a:extLst>
          </p:cNvPr>
          <p:cNvPicPr>
            <a:picLocks xmlns:a="http://schemas.openxmlformats.org/drawingml/2006/main" noChangeAspect="1"/>
          </p:cNvPicPr>
          <p:nvPr/>
        </p:nvPicPr>
        <p:blipFill>
          <a:blip xmlns:r="http://schemas.openxmlformats.org/officeDocument/2006/relationships" xmlns:a="http://schemas.openxmlformats.org/drawingml/2006/main" r:embed="R85db5f82c857400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811790937"/>
      </p:ext>
    </p:extLst>
  </p:cSld>
</p:sld>
</file>

<file path=ppt/slides/slide2.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1" name="neon-title-rule">
            <a:extLst xmlns:a="http://schemas.openxmlformats.org/drawingml/2006/main">
              <a:ext uri="{FF2B5EF4-FFF2-40B4-BE49-F238E27FC236}">
                <a16:creationId xmlns:a16="http://schemas.microsoft.com/office/drawing/2014/main" id="{9C056D00-1BFD-481B-BBD3-D68652643FB6}"/>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5F0998E3-3DB2-446F-B5CF-8EF7DEB9C1C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 missed follow-up leaves a next step open</a:t>
            </a:r>
          </a:p>
        </p:txBody>
      </p:sp>
      <p:sp>
        <p:nvSpPr>
          <p:cNvPr id="3" name="slide-subtitle">
            <a:extLst xmlns:a="http://schemas.openxmlformats.org/drawingml/2006/main">
              <a:ext uri="{FF2B5EF4-FFF2-40B4-BE49-F238E27FC236}">
                <a16:creationId xmlns:a16="http://schemas.microsoft.com/office/drawing/2014/main" id="{45DA726B-1566-45A7-AD00-21C469C531CC}"/>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An administrative problem drawn from everyday work with the doctors we serve.</a:t>
            </a:r>
          </a:p>
        </p:txBody>
      </p:sp>
      <p:sp>
        <p:nvSpPr>
          <p:cNvPr id="4" name="footer-rule">
            <a:extLst xmlns:a="http://schemas.openxmlformats.org/drawingml/2006/main">
              <a:ext uri="{FF2B5EF4-FFF2-40B4-BE49-F238E27FC236}">
                <a16:creationId xmlns:a16="http://schemas.microsoft.com/office/drawing/2014/main" id="{BAF98E1A-FDA1-40E1-90F1-BFB529B653C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19CE0D3-3F16-4157-A379-D629903B223D}"/>
              </a:ext>
            </a:extLst>
          </p:cNvPr>
          <p:cNvPicPr>
            <a:picLocks xmlns:a="http://schemas.openxmlformats.org/drawingml/2006/main" noChangeAspect="1"/>
          </p:cNvPicPr>
          <p:nvPr/>
        </p:nvPicPr>
        <p:blipFill>
          <a:blip xmlns:r="http://schemas.openxmlformats.org/officeDocument/2006/relationships" xmlns:a="http://schemas.openxmlformats.org/drawingml/2006/main" r:embed="R998536052ca24f74"/>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CC44CF5-3664-48DA-B89C-4853653AD76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02</a:t>
            </a:r>
          </a:p>
        </p:txBody>
      </p:sp>
      <p:sp>
        <p:nvSpPr>
          <p:cNvPr id="7" name="problem-statement">
            <a:extLst xmlns:a="http://schemas.openxmlformats.org/drawingml/2006/main">
              <a:ext uri="{FF2B5EF4-FFF2-40B4-BE49-F238E27FC236}">
                <a16:creationId xmlns:a16="http://schemas.microsoft.com/office/drawing/2014/main" id="{F27F45C1-3944-4D4D-B53C-9B3AA4C79AC7}"/>
              </a:ext>
            </a:extLst>
          </p:cNvPr>
          <p:cNvSpPr>
            <a:spLocks xmlns:a="http://schemas.openxmlformats.org/drawingml/2006/main" noGrp="1"/>
          </p:cNvSpPr>
          <p:nvPr/>
        </p:nvSpPr>
        <p:spPr>
          <a:xfrm xmlns:a="http://schemas.openxmlformats.org/drawingml/2006/main">
            <a:off x="914400" y="2714625"/>
            <a:ext cx="10382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01510"/>
                </a:solidFill>
                <a:latin typeface="Inter"/>
                <a:ea typeface="Inter"/>
                <a:cs typeface="Inter"/>
              </a:defRPr>
            </a:defPPr>
            <a:lvl1pPr>
              <a:defRPr sz="4800" b="1">
                <a:solidFill>
                  <a:srgbClr val="101510"/>
                </a:solidFill>
                <a:latin typeface="Inter"/>
                <a:ea typeface="Inter"/>
                <a:cs typeface="Inter"/>
              </a:defRPr>
            </a:lvl1pPr>
            <a:lvl2pPr>
              <a:defRPr sz="4800" b="1">
                <a:solidFill>
                  <a:srgbClr val="101510"/>
                </a:solidFill>
                <a:latin typeface="Inter"/>
                <a:ea typeface="Inter"/>
                <a:cs typeface="Inter"/>
              </a:defRPr>
            </a:lvl2pPr>
            <a:lvl3pPr>
              <a:defRPr sz="4800" b="1">
                <a:solidFill>
                  <a:srgbClr val="101510"/>
                </a:solidFill>
                <a:latin typeface="Inter"/>
                <a:ea typeface="Inter"/>
                <a:cs typeface="Inter"/>
              </a:defRPr>
            </a:lvl3pPr>
            <a:lvl4pPr>
              <a:defRPr sz="4800" b="1">
                <a:solidFill>
                  <a:srgbClr val="101510"/>
                </a:solidFill>
                <a:latin typeface="Inter"/>
                <a:ea typeface="Inter"/>
                <a:cs typeface="Inter"/>
              </a:defRPr>
            </a:lvl4pPr>
            <a:lvl5pPr>
              <a:defRPr sz="4800" b="1">
                <a:solidFill>
                  <a:srgbClr val="101510"/>
                </a:solidFill>
                <a:latin typeface="Inter"/>
                <a:ea typeface="Inter"/>
                <a:cs typeface="Inter"/>
              </a:defRPr>
            </a:lvl5pPr>
            <a:lvl6pPr>
              <a:defRPr sz="4800" b="1">
                <a:solidFill>
                  <a:srgbClr val="101510"/>
                </a:solidFill>
                <a:latin typeface="Inter"/>
                <a:ea typeface="Inter"/>
                <a:cs typeface="Inter"/>
              </a:defRPr>
            </a:lvl6pPr>
            <a:lvl7pPr>
              <a:defRPr sz="4800" b="1">
                <a:solidFill>
                  <a:srgbClr val="101510"/>
                </a:solidFill>
                <a:latin typeface="Inter"/>
                <a:ea typeface="Inter"/>
                <a:cs typeface="Inter"/>
              </a:defRPr>
            </a:lvl7pPr>
            <a:lvl8pPr>
              <a:defRPr sz="4800" b="1">
                <a:solidFill>
                  <a:srgbClr val="101510"/>
                </a:solidFill>
                <a:latin typeface="Inter"/>
                <a:ea typeface="Inter"/>
                <a:cs typeface="Inter"/>
              </a:defRPr>
            </a:lvl8pPr>
            <a:lvl9pPr>
              <a:defRPr sz="4800" b="1">
                <a:solidFill>
                  <a:srgbClr val="101510"/>
                </a:solidFill>
                <a:latin typeface="Inter"/>
                <a:ea typeface="Inter"/>
                <a:cs typeface="Inter"/>
              </a:defRPr>
            </a:lvl9pPr>
          </a:lstStyle>
          <a:p xmlns:a="http://schemas.openxmlformats.org/drawingml/2006/main">
            <a:pPr>
              <a:buNone/>
              <a:defRPr sz="4800" b="1">
                <a:solidFill>
                  <a:srgbClr val="101510"/>
                </a:solidFill>
                <a:latin typeface="Inter"/>
                <a:ea typeface="Inter"/>
                <a:cs typeface="Inter"/>
              </a:defRPr>
            </a:pPr>
            <a:r>
              <a:rPr sz="4800" b="1">
                <a:solidFill>
                  <a:srgbClr val="101510"/>
                </a:solidFill>
                <a:latin typeface="Inter"/>
                <a:ea typeface="Inter"/>
                <a:cs typeface="Inter"/>
              </a:rPr>
              <a:t>An unfinished follow-up</a:t>
            </a:r>
          </a:p>
          <a:p xmlns:a="http://schemas.openxmlformats.org/drawingml/2006/main">
            <a:pPr>
              <a:buNone/>
              <a:defRPr sz="4800" b="1">
                <a:solidFill>
                  <a:srgbClr val="101510"/>
                </a:solidFill>
                <a:latin typeface="Inter"/>
                <a:ea typeface="Inter"/>
                <a:cs typeface="Inter"/>
              </a:defRPr>
            </a:pPr>
            <a:r>
              <a:rPr sz="4800" b="1">
                <a:solidFill>
                  <a:srgbClr val="101510"/>
                </a:solidFill>
                <a:latin typeface="Inter"/>
                <a:ea typeface="Inter"/>
                <a:cs typeface="Inter"/>
              </a:rPr>
              <a:t>still needs a next step</a:t>
            </a:r>
          </a:p>
        </p:txBody>
      </p:sp>
      <p:sp>
        <p:nvSpPr>
          <p:cNvPr id="8" name="problem-context">
            <a:extLst xmlns:a="http://schemas.openxmlformats.org/drawingml/2006/main">
              <a:ext uri="{FF2B5EF4-FFF2-40B4-BE49-F238E27FC236}">
                <a16:creationId xmlns:a16="http://schemas.microsoft.com/office/drawing/2014/main" id="{0901CE77-D41A-4D70-AED2-2E419A89560E}"/>
              </a:ext>
            </a:extLst>
          </p:cNvPr>
          <p:cNvSpPr>
            <a:spLocks xmlns:a="http://schemas.openxmlformats.org/drawingml/2006/main" noGrp="1"/>
          </p:cNvSpPr>
          <p:nvPr/>
        </p:nvSpPr>
        <p:spPr>
          <a:xfrm xmlns:a="http://schemas.openxmlformats.org/drawingml/2006/main">
            <a:off x="914400" y="5295900"/>
            <a:ext cx="9906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a:solidFill>
                  <a:srgbClr val="203D32"/>
                </a:solidFill>
                <a:latin typeface="Inter"/>
                <a:ea typeface="Inter"/>
                <a:cs typeface="Inter"/>
              </a:rPr>
              <a:t>The doctor needs to see what remains open</a:t>
            </a:r>
          </a:p>
          <a:p xmlns:a="http://schemas.openxmlformats.org/drawingml/2006/main">
            <a:pPr>
              <a:buNone/>
              <a:defRPr sz="2625" b="0">
                <a:solidFill>
                  <a:srgbClr val="203D32"/>
                </a:solidFill>
                <a:latin typeface="Inter"/>
                <a:ea typeface="Inter"/>
                <a:cs typeface="Inter"/>
              </a:defRPr>
            </a:pPr>
            <a:r>
              <a:rPr sz="2625" b="0">
                <a:solidFill>
                  <a:srgbClr val="203D32"/>
                </a:solidFill>
                <a:latin typeface="Inter"/>
                <a:ea typeface="Inter"/>
                <a:cs typeface="Inter"/>
              </a:rPr>
              <a:t>and which source supports the next check.</a:t>
            </a:r>
          </a:p>
        </p:txBody>
      </p:sp>
      <p:sp>
        <p:nvSpPr>
          <p:cNvPr id="9" name="origin">
            <a:extLst xmlns:a="http://schemas.openxmlformats.org/drawingml/2006/main">
              <a:ext uri="{FF2B5EF4-FFF2-40B4-BE49-F238E27FC236}">
                <a16:creationId xmlns:a16="http://schemas.microsoft.com/office/drawing/2014/main" id="{D20ADD53-383F-4BAE-BCA9-1300D77388DF}"/>
              </a:ext>
            </a:extLst>
          </p:cNvPr>
          <p:cNvSpPr>
            <a:spLocks xmlns:a="http://schemas.openxmlformats.org/drawingml/2006/main" noGrp="1"/>
          </p:cNvSpPr>
          <p:nvPr/>
        </p:nvSpPr>
        <p:spPr>
          <a:xfrm xmlns:a="http://schemas.openxmlformats.org/drawingml/2006/main">
            <a:off x="914400" y="7524750"/>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Built from Athos’s everyday work</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with the doctors FIGUEIRA serves.</a:t>
            </a:r>
          </a:p>
        </p:txBody>
      </p:sp>
      <p:pic>
        <p:nvPicPr>
          <p:cNvPr id="10" name="">
            <a:extLst xmlns:a="http://schemas.openxmlformats.org/drawingml/2006/main">
              <a:ext uri="{FF2B5EF4-FFF2-40B4-BE49-F238E27FC236}">
                <a16:creationId xmlns:a16="http://schemas.microsoft.com/office/drawing/2014/main" id="{3E4F6CF2-D8D0-431D-8B49-810EF990F6E7}"/>
              </a:ext>
            </a:extLst>
          </p:cNvPr>
          <p:cNvPicPr>
            <a:picLocks xmlns:a="http://schemas.openxmlformats.org/drawingml/2006/main" noChangeAspect="1"/>
          </p:cNvPicPr>
          <p:nvPr/>
        </p:nvPicPr>
        <p:blipFill>
          <a:blip xmlns:r="http://schemas.openxmlformats.org/officeDocument/2006/relationships" xmlns:a="http://schemas.openxmlformats.org/drawingml/2006/main" r:embed="R879cc1b9783d4437"/>
          <a:stretch xmlns:a="http://schemas.openxmlformats.org/drawingml/2006/main"/>
        </p:blipFill>
        <p:spPr>
          <a:xfrm xmlns:a="http://schemas.openxmlformats.org/drawingml/2006/main">
            <a:off x="13440181" y="2457450"/>
            <a:ext cx="3028137" cy="6553200"/>
          </a:xfrm>
          <a:prstGeom xmlns:a="http://schemas.openxmlformats.org/drawingml/2006/main" prst="rect">
            <a:avLst/>
          </a:prstGeom>
        </p:spPr>
      </p:pic>
    </p:spTree>
    <p:extLst>
      <p:ext uri="{BB962C8B-B14F-4D97-AF65-F5344CB8AC3E}">
        <p14:creationId xmlns:p14="http://schemas.microsoft.com/office/powerpoint/2010/main" val="1185981732"/>
      </p:ext>
    </p:extLst>
  </p:cSld>
</p:sld>
</file>

<file path=ppt/slides/slide3.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719FF03-9F27-4ECF-AFCB-48F94879CFC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B83B619-3DC8-4BD7-BD09-44BA84D7096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The doctor plans the next step</a:t>
            </a:r>
          </a:p>
        </p:txBody>
      </p:sp>
      <p:sp>
        <p:nvSpPr>
          <p:cNvPr id="3" name="slide-subtitle">
            <a:extLst xmlns:a="http://schemas.openxmlformats.org/drawingml/2006/main">
              <a:ext uri="{FF2B5EF4-FFF2-40B4-BE49-F238E27FC236}">
                <a16:creationId xmlns:a16="http://schemas.microsoft.com/office/drawing/2014/main" id="{6398251B-E768-4A65-A7E5-8B73CB41825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Preoperative and postoperative labels organise one administrative episode.</a:t>
            </a:r>
          </a:p>
        </p:txBody>
      </p:sp>
      <p:sp>
        <p:nvSpPr>
          <p:cNvPr id="4" name="footer-rule">
            <a:extLst xmlns:a="http://schemas.openxmlformats.org/drawingml/2006/main">
              <a:ext uri="{FF2B5EF4-FFF2-40B4-BE49-F238E27FC236}">
                <a16:creationId xmlns:a16="http://schemas.microsoft.com/office/drawing/2014/main" id="{A22C77C3-034B-4F8D-AAEB-8B3BA128A02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6FD0996-6362-4C62-8054-466FA7BF4B2A}"/>
              </a:ext>
            </a:extLst>
          </p:cNvPr>
          <p:cNvPicPr>
            <a:picLocks xmlns:a="http://schemas.openxmlformats.org/drawingml/2006/main" noChangeAspect="1"/>
          </p:cNvPicPr>
          <p:nvPr/>
        </p:nvPicPr>
        <p:blipFill>
          <a:blip xmlns:r="http://schemas.openxmlformats.org/officeDocument/2006/relationships" xmlns:a="http://schemas.openxmlformats.org/drawingml/2006/main" r:embed="R68583b86fc3d4c31"/>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B788F794-51C2-45CF-9D92-AD31155C4402}"/>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03</a:t>
            </a:r>
          </a:p>
        </p:txBody>
      </p:sp>
      <p:pic>
        <p:nvPicPr>
          <p:cNvPr id="7" name="">
            <a:extLst xmlns:a="http://schemas.openxmlformats.org/drawingml/2006/main">
              <a:ext uri="{FF2B5EF4-FFF2-40B4-BE49-F238E27FC236}">
                <a16:creationId xmlns:a16="http://schemas.microsoft.com/office/drawing/2014/main" id="{40458D11-7444-4F16-B413-269F91F87826}"/>
              </a:ext>
            </a:extLst>
          </p:cNvPr>
          <p:cNvPicPr>
            <a:picLocks xmlns:a="http://schemas.openxmlformats.org/drawingml/2006/main" noChangeAspect="1"/>
          </p:cNvPicPr>
          <p:nvPr/>
        </p:nvPicPr>
        <p:blipFill>
          <a:blip xmlns:r="http://schemas.openxmlformats.org/officeDocument/2006/relationships" xmlns:a="http://schemas.openxmlformats.org/drawingml/2006/main" r:embed="R495ced39f4ee45d2"/>
          <a:stretch xmlns:a="http://schemas.openxmlformats.org/drawingml/2006/main"/>
        </p:blipFill>
        <p:spPr>
          <a:xfrm xmlns:a="http://schemas.openxmlformats.org/drawingml/2006/main">
            <a:off x="2304955" y="2343150"/>
            <a:ext cx="13678090" cy="6096000"/>
          </a:xfrm>
          <a:prstGeom xmlns:a="http://schemas.openxmlformats.org/drawingml/2006/main" prst="rect">
            <a:avLst/>
          </a:prstGeom>
        </p:spPr>
      </p:pic>
      <p:sp>
        <p:nvSpPr>
          <p:cNvPr id="8" name="care-boundary">
            <a:extLst xmlns:a="http://schemas.openxmlformats.org/drawingml/2006/main">
              <a:ext uri="{FF2B5EF4-FFF2-40B4-BE49-F238E27FC236}">
                <a16:creationId xmlns:a16="http://schemas.microsoft.com/office/drawing/2014/main" id="{362A57EE-A85D-48FE-A2C7-144AF32F6C3D}"/>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The doctor sets the administrative check. Clinical care instructions remain pending.</a:t>
            </a:r>
          </a:p>
        </p:txBody>
      </p:sp>
    </p:spTree>
    <p:extLst>
      <p:ext uri="{BB962C8B-B14F-4D97-AF65-F5344CB8AC3E}">
        <p14:creationId xmlns:p14="http://schemas.microsoft.com/office/powerpoint/2010/main" val="1971460272"/>
      </p:ext>
    </p:extLst>
  </p:cSld>
</p:sld>
</file>

<file path=ppt/slides/slide4.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837B9AB0-3A2A-487F-B0D2-C617A4115B2B}"/>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A210C5B-1506-4A1E-B841-0774133C469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Audio becomes a source the doctor can inspect</a:t>
            </a:r>
          </a:p>
        </p:txBody>
      </p:sp>
      <p:sp>
        <p:nvSpPr>
          <p:cNvPr id="3" name="slide-subtitle">
            <a:extLst xmlns:a="http://schemas.openxmlformats.org/drawingml/2006/main">
              <a:ext uri="{FF2B5EF4-FFF2-40B4-BE49-F238E27FC236}">
                <a16:creationId xmlns:a16="http://schemas.microsoft.com/office/drawing/2014/main" id="{3C3C2C6C-C42E-49E1-B78A-F5594B051A67}"/>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Local CPU transcription supports a draft made from selected literal segments.</a:t>
            </a:r>
          </a:p>
        </p:txBody>
      </p:sp>
      <p:sp>
        <p:nvSpPr>
          <p:cNvPr id="4" name="footer-rule">
            <a:extLst xmlns:a="http://schemas.openxmlformats.org/drawingml/2006/main">
              <a:ext uri="{FF2B5EF4-FFF2-40B4-BE49-F238E27FC236}">
                <a16:creationId xmlns:a16="http://schemas.microsoft.com/office/drawing/2014/main" id="{4225C1F3-3D9A-4A12-83C0-5DB032BB52B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555CF2A-1FFA-44C0-BBC6-E84BFE664BC0}"/>
              </a:ext>
            </a:extLst>
          </p:cNvPr>
          <p:cNvPicPr>
            <a:picLocks xmlns:a="http://schemas.openxmlformats.org/drawingml/2006/main" noChangeAspect="1"/>
          </p:cNvPicPr>
          <p:nvPr/>
        </p:nvPicPr>
        <p:blipFill>
          <a:blip xmlns:r="http://schemas.openxmlformats.org/officeDocument/2006/relationships" xmlns:a="http://schemas.openxmlformats.org/drawingml/2006/main" r:embed="R7bf40132a35742f9"/>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F0DB1AD1-1F1D-4CE9-A9DB-A028A03AF56E}"/>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04</a:t>
            </a:r>
          </a:p>
        </p:txBody>
      </p:sp>
      <p:pic>
        <p:nvPicPr>
          <p:cNvPr id="7" name="">
            <a:extLst xmlns:a="http://schemas.openxmlformats.org/drawingml/2006/main">
              <a:ext uri="{FF2B5EF4-FFF2-40B4-BE49-F238E27FC236}">
                <a16:creationId xmlns:a16="http://schemas.microsoft.com/office/drawing/2014/main" id="{3B57C8D3-A071-4AB0-BF6E-8EC02749AC3D}"/>
              </a:ext>
            </a:extLst>
          </p:cNvPr>
          <p:cNvPicPr>
            <a:picLocks xmlns:a="http://schemas.openxmlformats.org/drawingml/2006/main" noChangeAspect="1"/>
          </p:cNvPicPr>
          <p:nvPr/>
        </p:nvPicPr>
        <p:blipFill>
          <a:blip xmlns:r="http://schemas.openxmlformats.org/officeDocument/2006/relationships" xmlns:a="http://schemas.openxmlformats.org/drawingml/2006/main" r:embed="R83148f50a6e64fef"/>
          <a:stretch xmlns:a="http://schemas.openxmlformats.org/drawingml/2006/main"/>
        </p:blipFill>
        <p:spPr>
          <a:xfrm xmlns:a="http://schemas.openxmlformats.org/drawingml/2006/main">
            <a:off x="914400" y="2463312"/>
            <a:ext cx="16459200" cy="5855677"/>
          </a:xfrm>
          <a:prstGeom xmlns:a="http://schemas.openxmlformats.org/drawingml/2006/main" prst="rect">
            <a:avLst/>
          </a:prstGeom>
        </p:spPr>
      </p:pic>
      <p:sp>
        <p:nvSpPr>
          <p:cNvPr id="8" name="note-boundary">
            <a:extLst xmlns:a="http://schemas.openxmlformats.org/drawingml/2006/main">
              <a:ext uri="{FF2B5EF4-FFF2-40B4-BE49-F238E27FC236}">
                <a16:creationId xmlns:a16="http://schemas.microsoft.com/office/drawing/2014/main" id="{4AC6ECCB-1656-41DE-9C8C-0A0243D54779}"/>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Local CPU version. Public demo: audio disabled. The draft uses selected literal segments.</a:t>
            </a:r>
          </a:p>
        </p:txBody>
      </p:sp>
    </p:spTree>
    <p:extLst>
      <p:ext uri="{BB962C8B-B14F-4D97-AF65-F5344CB8AC3E}">
        <p14:creationId xmlns:p14="http://schemas.microsoft.com/office/powerpoint/2010/main" val="80668783"/>
      </p:ext>
    </p:extLst>
  </p:cSld>
</p:sld>
</file>

<file path=ppt/slides/slide5.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9" name="neon-title-rule">
            <a:extLst xmlns:a="http://schemas.openxmlformats.org/drawingml/2006/main">
              <a:ext uri="{FF2B5EF4-FFF2-40B4-BE49-F238E27FC236}">
                <a16:creationId xmlns:a16="http://schemas.microsoft.com/office/drawing/2014/main" id="{ECFC8C41-BD72-415A-83F0-7EB5D25A6A82}"/>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2FBAFD9D-FA4B-4FA9-A736-FB120B7CB2AF}"/>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Reviewed contact remains a simulation</a:t>
            </a:r>
          </a:p>
        </p:txBody>
      </p:sp>
      <p:sp>
        <p:nvSpPr>
          <p:cNvPr id="3" name="slide-subtitle">
            <a:extLst xmlns:a="http://schemas.openxmlformats.org/drawingml/2006/main">
              <a:ext uri="{FF2B5EF4-FFF2-40B4-BE49-F238E27FC236}">
                <a16:creationId xmlns:a16="http://schemas.microsoft.com/office/drawing/2014/main" id="{53C6A1D0-AAA6-4AA1-B0C8-CEBD3F08462B}"/>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Recorded consent and the current source gate a message. A fictional reply supports human resolution.</a:t>
            </a:r>
          </a:p>
        </p:txBody>
      </p:sp>
      <p:sp>
        <p:nvSpPr>
          <p:cNvPr id="4" name="footer-rule">
            <a:extLst xmlns:a="http://schemas.openxmlformats.org/drawingml/2006/main">
              <a:ext uri="{FF2B5EF4-FFF2-40B4-BE49-F238E27FC236}">
                <a16:creationId xmlns:a16="http://schemas.microsoft.com/office/drawing/2014/main" id="{D4E349FA-2CDD-47ED-A30E-AF14DB86422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17E5852-50D2-490A-8225-DC86C9DF535D}"/>
              </a:ext>
            </a:extLst>
          </p:cNvPr>
          <p:cNvPicPr>
            <a:picLocks xmlns:a="http://schemas.openxmlformats.org/drawingml/2006/main" noChangeAspect="1"/>
          </p:cNvPicPr>
          <p:nvPr/>
        </p:nvPicPr>
        <p:blipFill>
          <a:blip xmlns:r="http://schemas.openxmlformats.org/officeDocument/2006/relationships" xmlns:a="http://schemas.openxmlformats.org/drawingml/2006/main" r:embed="R2a2eee2c42d14f35"/>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BC1D3D1-ED7D-4C5E-9B8C-A33DB5694F4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05</a:t>
            </a:r>
          </a:p>
        </p:txBody>
      </p:sp>
      <p:pic>
        <p:nvPicPr>
          <p:cNvPr id="7" name="">
            <a:extLst xmlns:a="http://schemas.openxmlformats.org/drawingml/2006/main">
              <a:ext uri="{FF2B5EF4-FFF2-40B4-BE49-F238E27FC236}">
                <a16:creationId xmlns:a16="http://schemas.microsoft.com/office/drawing/2014/main" id="{F901FAFD-2380-45B4-9860-0A53DB886B32}"/>
              </a:ext>
            </a:extLst>
          </p:cNvPr>
          <p:cNvPicPr>
            <a:picLocks xmlns:a="http://schemas.openxmlformats.org/drawingml/2006/main" noChangeAspect="1"/>
          </p:cNvPicPr>
          <p:nvPr/>
        </p:nvPicPr>
        <p:blipFill>
          <a:blip xmlns:r="http://schemas.openxmlformats.org/officeDocument/2006/relationships" xmlns:a="http://schemas.openxmlformats.org/drawingml/2006/main" r:embed="R43de0f6e930d471e"/>
          <a:stretch xmlns:a="http://schemas.openxmlformats.org/drawingml/2006/main"/>
        </p:blipFill>
        <p:spPr>
          <a:xfrm xmlns:a="http://schemas.openxmlformats.org/drawingml/2006/main">
            <a:off x="3843301" y="2343150"/>
            <a:ext cx="10601398" cy="6096000"/>
          </a:xfrm>
          <a:prstGeom xmlns:a="http://schemas.openxmlformats.org/drawingml/2006/main" prst="rect">
            <a:avLst/>
          </a:prstGeom>
        </p:spPr>
      </p:pic>
      <p:sp>
        <p:nvSpPr>
          <p:cNvPr id="8" name="contact-boundary">
            <a:extLst xmlns:a="http://schemas.openxmlformats.org/drawingml/2006/main">
              <a:ext uri="{FF2B5EF4-FFF2-40B4-BE49-F238E27FC236}">
                <a16:creationId xmlns:a16="http://schemas.microsoft.com/office/drawing/2014/main" id="{6BA83983-3EEA-4B92-80BB-B8E59A344597}"/>
              </a:ext>
            </a:extLst>
          </p:cNvPr>
          <p:cNvSpPr>
            <a:spLocks xmlns:a="http://schemas.openxmlformats.org/drawingml/2006/main" noGrp="1"/>
          </p:cNvSpPr>
          <p:nvPr/>
        </p:nvSpPr>
        <p:spPr>
          <a:xfrm xmlns:a="http://schemas.openxmlformats.org/drawingml/2006/main">
            <a:off x="914400" y="8705850"/>
            <a:ext cx="16459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 source change invalidates review. Refusal blocks contact. No external message is sent.</a:t>
            </a:r>
          </a:p>
        </p:txBody>
      </p:sp>
    </p:spTree>
    <p:extLst>
      <p:ext uri="{BB962C8B-B14F-4D97-AF65-F5344CB8AC3E}">
        <p14:creationId xmlns:p14="http://schemas.microsoft.com/office/powerpoint/2010/main" val="1853042749"/>
      </p:ext>
    </p:extLst>
  </p:cSld>
</p:sld>
</file>

<file path=ppt/slides/slide6.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2" name="neon-title-rule">
            <a:extLst xmlns:a="http://schemas.openxmlformats.org/drawingml/2006/main">
              <a:ext uri="{FF2B5EF4-FFF2-40B4-BE49-F238E27FC236}">
                <a16:creationId xmlns:a16="http://schemas.microsoft.com/office/drawing/2014/main" id="{3B2259B9-56CA-4687-B186-2D56F0F8CDF5}"/>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B543E57C-CB00-4F8D-9EAD-02C6B53D4D4A}"/>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Gemma + Evolus: one local execution</a:t>
            </a:r>
          </a:p>
        </p:txBody>
      </p:sp>
      <p:sp>
        <p:nvSpPr>
          <p:cNvPr id="3" name="slide-subtitle">
            <a:extLst xmlns:a="http://schemas.openxmlformats.org/drawingml/2006/main">
              <a:ext uri="{FF2B5EF4-FFF2-40B4-BE49-F238E27FC236}">
                <a16:creationId xmlns:a16="http://schemas.microsoft.com/office/drawing/2014/main" id="{099DAEBD-3547-41B2-A003-21E836BBEEA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16 October · PatientKeeper → Evolus → configured AMD Token Factory connection</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Read-only candidate · Administrative state unchanged</a:t>
            </a:r>
          </a:p>
        </p:txBody>
      </p:sp>
      <p:sp>
        <p:nvSpPr>
          <p:cNvPr id="4" name="footer-rule">
            <a:extLst xmlns:a="http://schemas.openxmlformats.org/drawingml/2006/main">
              <a:ext uri="{FF2B5EF4-FFF2-40B4-BE49-F238E27FC236}">
                <a16:creationId xmlns:a16="http://schemas.microsoft.com/office/drawing/2014/main" id="{BDE7C57B-EB6F-44CE-B0F9-E7EB68BED8B7}"/>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F68EFE9-C280-421F-9BC2-BD1C4DECA76A}"/>
              </a:ext>
            </a:extLst>
          </p:cNvPr>
          <p:cNvPicPr>
            <a:picLocks xmlns:a="http://schemas.openxmlformats.org/drawingml/2006/main" noChangeAspect="1"/>
          </p:cNvPicPr>
          <p:nvPr/>
        </p:nvPicPr>
        <p:blipFill>
          <a:blip xmlns:r="http://schemas.openxmlformats.org/officeDocument/2006/relationships" xmlns:a="http://schemas.openxmlformats.org/drawingml/2006/main" r:embed="R131f86f98d774c7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6AECAF32-2872-48C6-B5A5-5B8B4AD56C5D}"/>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06</a:t>
            </a:r>
          </a:p>
        </p:txBody>
      </p:sp>
      <p:sp>
        <p:nvSpPr>
          <p:cNvPr id="7" name="gemma-observed-counts">
            <a:extLst xmlns:a="http://schemas.openxmlformats.org/drawingml/2006/main">
              <a:ext uri="{FF2B5EF4-FFF2-40B4-BE49-F238E27FC236}">
                <a16:creationId xmlns:a16="http://schemas.microsoft.com/office/drawing/2014/main" id="{5CA9D60F-5AF2-4170-8162-2D07D3FFF5A4}"/>
              </a:ext>
            </a:extLst>
          </p:cNvPr>
          <p:cNvSpPr>
            <a:spLocks xmlns:a="http://schemas.openxmlformats.org/drawingml/2006/main" noGrp="1"/>
          </p:cNvSpPr>
          <p:nvPr/>
        </p:nvSpPr>
        <p:spPr>
          <a:xfrm xmlns:a="http://schemas.openxmlformats.org/drawingml/2006/main">
            <a:off x="914400" y="2533650"/>
            <a:ext cx="1645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203D32"/>
                </a:solidFill>
                <a:latin typeface="Inter"/>
                <a:ea typeface="Inter"/>
                <a:cs typeface="Inter"/>
              </a:defRPr>
            </a:defPPr>
            <a:lvl1pPr>
              <a:defRPr sz="3375" b="1">
                <a:solidFill>
                  <a:srgbClr val="203D32"/>
                </a:solidFill>
                <a:latin typeface="Inter"/>
                <a:ea typeface="Inter"/>
                <a:cs typeface="Inter"/>
              </a:defRPr>
            </a:lvl1pPr>
            <a:lvl2pPr>
              <a:defRPr sz="3375" b="1">
                <a:solidFill>
                  <a:srgbClr val="203D32"/>
                </a:solidFill>
                <a:latin typeface="Inter"/>
                <a:ea typeface="Inter"/>
                <a:cs typeface="Inter"/>
              </a:defRPr>
            </a:lvl2pPr>
            <a:lvl3pPr>
              <a:defRPr sz="3375" b="1">
                <a:solidFill>
                  <a:srgbClr val="203D32"/>
                </a:solidFill>
                <a:latin typeface="Inter"/>
                <a:ea typeface="Inter"/>
                <a:cs typeface="Inter"/>
              </a:defRPr>
            </a:lvl3pPr>
            <a:lvl4pPr>
              <a:defRPr sz="3375" b="1">
                <a:solidFill>
                  <a:srgbClr val="203D32"/>
                </a:solidFill>
                <a:latin typeface="Inter"/>
                <a:ea typeface="Inter"/>
                <a:cs typeface="Inter"/>
              </a:defRPr>
            </a:lvl4pPr>
            <a:lvl5pPr>
              <a:defRPr sz="3375" b="1">
                <a:solidFill>
                  <a:srgbClr val="203D32"/>
                </a:solidFill>
                <a:latin typeface="Inter"/>
                <a:ea typeface="Inter"/>
                <a:cs typeface="Inter"/>
              </a:defRPr>
            </a:lvl5pPr>
            <a:lvl6pPr>
              <a:defRPr sz="3375" b="1">
                <a:solidFill>
                  <a:srgbClr val="203D32"/>
                </a:solidFill>
                <a:latin typeface="Inter"/>
                <a:ea typeface="Inter"/>
                <a:cs typeface="Inter"/>
              </a:defRPr>
            </a:lvl6pPr>
            <a:lvl7pPr>
              <a:defRPr sz="3375" b="1">
                <a:solidFill>
                  <a:srgbClr val="203D32"/>
                </a:solidFill>
                <a:latin typeface="Inter"/>
                <a:ea typeface="Inter"/>
                <a:cs typeface="Inter"/>
              </a:defRPr>
            </a:lvl7pPr>
            <a:lvl8pPr>
              <a:defRPr sz="3375" b="1">
                <a:solidFill>
                  <a:srgbClr val="203D32"/>
                </a:solidFill>
                <a:latin typeface="Inter"/>
                <a:ea typeface="Inter"/>
                <a:cs typeface="Inter"/>
              </a:defRPr>
            </a:lvl8pPr>
            <a:lvl9pPr>
              <a:defRPr sz="3375" b="1">
                <a:solidFill>
                  <a:srgbClr val="203D32"/>
                </a:solidFill>
                <a:latin typeface="Inter"/>
                <a:ea typeface="Inter"/>
                <a:cs typeface="Inter"/>
              </a:defRPr>
            </a:lvl9pPr>
          </a:lstStyle>
          <a:p xmlns:a="http://schemas.openxmlformats.org/drawingml/2006/main">
            <a:pPr>
              <a:buNone/>
              <a:defRPr sz="3375" b="1">
                <a:solidFill>
                  <a:srgbClr val="203D32"/>
                </a:solidFill>
                <a:latin typeface="Inter"/>
                <a:ea typeface="Inter"/>
                <a:cs typeface="Inter"/>
              </a:defRPr>
            </a:pPr>
            <a:r>
              <a:rPr sz="3375" b="1">
                <a:solidFill>
                  <a:srgbClr val="203D32"/>
                </a:solidFill>
                <a:latin typeface="Inter"/>
                <a:ea typeface="Inter"/>
                <a:cs typeface="Inter"/>
              </a:rPr>
              <a:t>8.149 s · 2 exact citations · Human review required</a:t>
            </a:r>
          </a:p>
        </p:txBody>
      </p:sp>
      <p:sp>
        <p:nvSpPr>
          <p:cNvPr id="8" name="gemma-original-label">
            <a:extLst xmlns:a="http://schemas.openxmlformats.org/drawingml/2006/main">
              <a:ext uri="{FF2B5EF4-FFF2-40B4-BE49-F238E27FC236}">
                <a16:creationId xmlns:a16="http://schemas.microsoft.com/office/drawing/2014/main" id="{EC3DFB6D-8FC6-4E07-9FF3-0EE1AF2A01D8}"/>
              </a:ext>
            </a:extLst>
          </p:cNvPr>
          <p:cNvSpPr>
            <a:spLocks xmlns:a="http://schemas.openxmlformats.org/drawingml/2006/main" noGrp="1"/>
          </p:cNvSpPr>
          <p:nvPr/>
        </p:nvSpPr>
        <p:spPr>
          <a:xfrm xmlns:a="http://schemas.openxmlformats.org/drawingml/2006/main">
            <a:off x="914400" y="5953125"/>
            <a:ext cx="16459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2"/>
                </a:solidFill>
                <a:latin typeface="Inter"/>
                <a:ea typeface="Inter"/>
                <a:cs typeface="Inter"/>
              </a:defRPr>
            </a:defPPr>
            <a:lvl1pPr>
              <a:defRPr sz="2100" b="0">
                <a:solidFill>
                  <a:srgbClr val="203D32"/>
                </a:solidFill>
                <a:latin typeface="Inter"/>
                <a:ea typeface="Inter"/>
                <a:cs typeface="Inter"/>
              </a:defRPr>
            </a:lvl1pPr>
            <a:lvl2pPr>
              <a:defRPr sz="2100" b="0">
                <a:solidFill>
                  <a:srgbClr val="203D32"/>
                </a:solidFill>
                <a:latin typeface="Inter"/>
                <a:ea typeface="Inter"/>
                <a:cs typeface="Inter"/>
              </a:defRPr>
            </a:lvl2pPr>
            <a:lvl3pPr>
              <a:defRPr sz="2100" b="0">
                <a:solidFill>
                  <a:srgbClr val="203D32"/>
                </a:solidFill>
                <a:latin typeface="Inter"/>
                <a:ea typeface="Inter"/>
                <a:cs typeface="Inter"/>
              </a:defRPr>
            </a:lvl3pPr>
            <a:lvl4pPr>
              <a:defRPr sz="2100" b="0">
                <a:solidFill>
                  <a:srgbClr val="203D32"/>
                </a:solidFill>
                <a:latin typeface="Inter"/>
                <a:ea typeface="Inter"/>
                <a:cs typeface="Inter"/>
              </a:defRPr>
            </a:lvl4pPr>
            <a:lvl5pPr>
              <a:defRPr sz="2100" b="0">
                <a:solidFill>
                  <a:srgbClr val="203D32"/>
                </a:solidFill>
                <a:latin typeface="Inter"/>
                <a:ea typeface="Inter"/>
                <a:cs typeface="Inter"/>
              </a:defRPr>
            </a:lvl5pPr>
            <a:lvl6pPr>
              <a:defRPr sz="2100" b="0">
                <a:solidFill>
                  <a:srgbClr val="203D32"/>
                </a:solidFill>
                <a:latin typeface="Inter"/>
                <a:ea typeface="Inter"/>
                <a:cs typeface="Inter"/>
              </a:defRPr>
            </a:lvl6pPr>
            <a:lvl7pPr>
              <a:defRPr sz="2100" b="0">
                <a:solidFill>
                  <a:srgbClr val="203D32"/>
                </a:solidFill>
                <a:latin typeface="Inter"/>
                <a:ea typeface="Inter"/>
                <a:cs typeface="Inter"/>
              </a:defRPr>
            </a:lvl7pPr>
            <a:lvl8pPr>
              <a:defRPr sz="2100" b="0">
                <a:solidFill>
                  <a:srgbClr val="203D32"/>
                </a:solidFill>
                <a:latin typeface="Inter"/>
                <a:ea typeface="Inter"/>
                <a:cs typeface="Inter"/>
              </a:defRPr>
            </a:lvl8pPr>
            <a:lvl9pPr>
              <a:defRPr sz="2100" b="0">
                <a:solidFill>
                  <a:srgbClr val="203D32"/>
                </a:solidFill>
                <a:latin typeface="Inter"/>
                <a:ea typeface="Inter"/>
                <a:cs typeface="Inter"/>
              </a:defRPr>
            </a:lvl9pPr>
          </a:lstStyle>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SIM02-CANCELAMENTO · Original Portuguese</a:t>
            </a:r>
          </a:p>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“Ha um cancelamento de retorno sem reposicao.”</a:t>
            </a:r>
          </a:p>
        </p:txBody>
      </p:sp>
      <p:sp>
        <p:nvSpPr>
          <p:cNvPr id="9" name="gemma-original-quote">
            <a:extLst xmlns:a="http://schemas.openxmlformats.org/drawingml/2006/main">
              <a:ext uri="{FF2B5EF4-FFF2-40B4-BE49-F238E27FC236}">
                <a16:creationId xmlns:a16="http://schemas.microsoft.com/office/drawing/2014/main" id="{E7E6BF42-8425-4DA4-ACF7-D14E94261D85}"/>
              </a:ext>
            </a:extLst>
          </p:cNvPr>
          <p:cNvSpPr>
            <a:spLocks xmlns:a="http://schemas.openxmlformats.org/drawingml/2006/main" noGrp="1"/>
          </p:cNvSpPr>
          <p:nvPr/>
        </p:nvSpPr>
        <p:spPr>
          <a:xfrm xmlns:a="http://schemas.openxmlformats.org/drawingml/2006/main">
            <a:off x="914400" y="7153275"/>
            <a:ext cx="16459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2"/>
                </a:solidFill>
                <a:latin typeface="Inter"/>
                <a:ea typeface="Inter"/>
                <a:cs typeface="Inter"/>
              </a:defRPr>
            </a:defPPr>
            <a:lvl1pPr>
              <a:defRPr sz="2100" b="0">
                <a:solidFill>
                  <a:srgbClr val="203D32"/>
                </a:solidFill>
                <a:latin typeface="Inter"/>
                <a:ea typeface="Inter"/>
                <a:cs typeface="Inter"/>
              </a:defRPr>
            </a:lvl1pPr>
            <a:lvl2pPr>
              <a:defRPr sz="2100" b="0">
                <a:solidFill>
                  <a:srgbClr val="203D32"/>
                </a:solidFill>
                <a:latin typeface="Inter"/>
                <a:ea typeface="Inter"/>
                <a:cs typeface="Inter"/>
              </a:defRPr>
            </a:lvl2pPr>
            <a:lvl3pPr>
              <a:defRPr sz="2100" b="0">
                <a:solidFill>
                  <a:srgbClr val="203D32"/>
                </a:solidFill>
                <a:latin typeface="Inter"/>
                <a:ea typeface="Inter"/>
                <a:cs typeface="Inter"/>
              </a:defRPr>
            </a:lvl3pPr>
            <a:lvl4pPr>
              <a:defRPr sz="2100" b="0">
                <a:solidFill>
                  <a:srgbClr val="203D32"/>
                </a:solidFill>
                <a:latin typeface="Inter"/>
                <a:ea typeface="Inter"/>
                <a:cs typeface="Inter"/>
              </a:defRPr>
            </a:lvl4pPr>
            <a:lvl5pPr>
              <a:defRPr sz="2100" b="0">
                <a:solidFill>
                  <a:srgbClr val="203D32"/>
                </a:solidFill>
                <a:latin typeface="Inter"/>
                <a:ea typeface="Inter"/>
                <a:cs typeface="Inter"/>
              </a:defRPr>
            </a:lvl5pPr>
            <a:lvl6pPr>
              <a:defRPr sz="2100" b="0">
                <a:solidFill>
                  <a:srgbClr val="203D32"/>
                </a:solidFill>
                <a:latin typeface="Inter"/>
                <a:ea typeface="Inter"/>
                <a:cs typeface="Inter"/>
              </a:defRPr>
            </a:lvl6pPr>
            <a:lvl7pPr>
              <a:defRPr sz="2100" b="0">
                <a:solidFill>
                  <a:srgbClr val="203D32"/>
                </a:solidFill>
                <a:latin typeface="Inter"/>
                <a:ea typeface="Inter"/>
                <a:cs typeface="Inter"/>
              </a:defRPr>
            </a:lvl7pPr>
            <a:lvl8pPr>
              <a:defRPr sz="2100" b="0">
                <a:solidFill>
                  <a:srgbClr val="203D32"/>
                </a:solidFill>
                <a:latin typeface="Inter"/>
                <a:ea typeface="Inter"/>
                <a:cs typeface="Inter"/>
              </a:defRPr>
            </a:lvl8pPr>
            <a:lvl9pPr>
              <a:defRPr sz="2100" b="0">
                <a:solidFill>
                  <a:srgbClr val="203D32"/>
                </a:solidFill>
                <a:latin typeface="Inter"/>
                <a:ea typeface="Inter"/>
                <a:cs typeface="Inter"/>
              </a:defRPr>
            </a:lvl9pPr>
          </a:lstStyle>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SIM02-HANDOFF · Original Portuguese</a:t>
            </a:r>
          </a:p>
          <a:p xmlns:a="http://schemas.openxmlformats.org/drawingml/2006/main">
            <a:pPr>
              <a:buNone/>
              <a:defRPr sz="2100" b="0">
                <a:solidFill>
                  <a:srgbClr val="203D32"/>
                </a:solidFill>
                <a:latin typeface="Inter"/>
                <a:ea typeface="Inter"/>
                <a:cs typeface="Inter"/>
              </a:defRPr>
            </a:pPr>
            <a:r>
              <a:rPr sz="2100" b="0">
                <a:solidFill>
                  <a:srgbClr val="203D32"/>
                </a:solidFill>
                <a:latin typeface="Inter"/>
                <a:ea typeface="Inter"/>
                <a:cs typeface="Inter"/>
              </a:rPr>
              <a:t>“A pendencia foi criada sem responsavel e sem proxima acao registrada.”</a:t>
            </a:r>
          </a:p>
        </p:txBody>
      </p:sp>
      <p:pic>
        <p:nvPicPr>
          <p:cNvPr id="10" name="">
            <a:extLst xmlns:a="http://schemas.openxmlformats.org/drawingml/2006/main">
              <a:ext uri="{FF2B5EF4-FFF2-40B4-BE49-F238E27FC236}">
                <a16:creationId xmlns:a16="http://schemas.microsoft.com/office/drawing/2014/main" id="{9589C86B-D30C-43DE-96D3-04A2566F7464}"/>
              </a:ext>
            </a:extLst>
          </p:cNvPr>
          <p:cNvPicPr>
            <a:picLocks xmlns:a="http://schemas.openxmlformats.org/drawingml/2006/main" noChangeAspect="1"/>
          </p:cNvPicPr>
          <p:nvPr/>
        </p:nvPicPr>
        <p:blipFill>
          <a:blip xmlns:r="http://schemas.openxmlformats.org/officeDocument/2006/relationships" xmlns:a="http://schemas.openxmlformats.org/drawingml/2006/main" r:embed="Rb7387fe0630a4ed4"/>
          <a:srcRect xmlns:a="http://schemas.openxmlformats.org/drawingml/2006/main" l="0" t="0" r="0" b="0"/>
          <a:stretch xmlns:a="http://schemas.openxmlformats.org/drawingml/2006/main"/>
        </p:blipFill>
        <p:spPr>
          <a:xfrm xmlns:a="http://schemas.openxmlformats.org/drawingml/2006/main">
            <a:off x="3429000" y="3476625"/>
            <a:ext cx="11430000" cy="2286000"/>
          </a:xfrm>
          <a:prstGeom xmlns:a="http://schemas.openxmlformats.org/drawingml/2006/main" prst="rect">
            <a:avLst/>
          </a:prstGeom>
        </p:spPr>
      </p:pic>
      <p:sp>
        <p:nvSpPr>
          <p:cNvPr id="11" name="gemma-boundary">
            <a:extLst xmlns:a="http://schemas.openxmlformats.org/drawingml/2006/main">
              <a:ext uri="{FF2B5EF4-FFF2-40B4-BE49-F238E27FC236}">
                <a16:creationId xmlns:a16="http://schemas.microsoft.com/office/drawing/2014/main" id="{663CB525-B760-4541-97A0-A493DF2E4E8E}"/>
              </a:ext>
            </a:extLst>
          </p:cNvPr>
          <p:cNvSpPr>
            <a:spLocks xmlns:a="http://schemas.openxmlformats.org/drawingml/2006/main" noGrp="1"/>
          </p:cNvSpPr>
          <p:nvPr/>
        </p:nvSpPr>
        <p:spPr>
          <a:xfrm xmlns:a="http://schemas.openxmlformats.org/drawingml/2006/main">
            <a:off x="914400" y="8601075"/>
            <a:ext cx="16459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vl1pPr>
              <a:defRPr sz="1800" b="0">
                <a:solidFill>
                  <a:srgbClr val="52675B"/>
                </a:solidFill>
                <a:latin typeface="Inter"/>
                <a:ea typeface="Inter"/>
                <a:cs typeface="Inter"/>
              </a:defRPr>
            </a:lvl1pPr>
            <a:lvl2pPr>
              <a:defRPr sz="1800" b="0">
                <a:solidFill>
                  <a:srgbClr val="52675B"/>
                </a:solidFill>
                <a:latin typeface="Inter"/>
                <a:ea typeface="Inter"/>
                <a:cs typeface="Inter"/>
              </a:defRPr>
            </a:lvl2pPr>
            <a:lvl3pPr>
              <a:defRPr sz="1800" b="0">
                <a:solidFill>
                  <a:srgbClr val="52675B"/>
                </a:solidFill>
                <a:latin typeface="Inter"/>
                <a:ea typeface="Inter"/>
                <a:cs typeface="Inter"/>
              </a:defRPr>
            </a:lvl3pPr>
            <a:lvl4pPr>
              <a:defRPr sz="1800" b="0">
                <a:solidFill>
                  <a:srgbClr val="52675B"/>
                </a:solidFill>
                <a:latin typeface="Inter"/>
                <a:ea typeface="Inter"/>
                <a:cs typeface="Inter"/>
              </a:defRPr>
            </a:lvl4pPr>
            <a:lvl5pPr>
              <a:defRPr sz="1800" b="0">
                <a:solidFill>
                  <a:srgbClr val="52675B"/>
                </a:solidFill>
                <a:latin typeface="Inter"/>
                <a:ea typeface="Inter"/>
                <a:cs typeface="Inter"/>
              </a:defRPr>
            </a:lvl5pPr>
            <a:lvl6pPr>
              <a:defRPr sz="1800" b="0">
                <a:solidFill>
                  <a:srgbClr val="52675B"/>
                </a:solidFill>
                <a:latin typeface="Inter"/>
                <a:ea typeface="Inter"/>
                <a:cs typeface="Inter"/>
              </a:defRPr>
            </a:lvl6pPr>
            <a:lvl7pPr>
              <a:defRPr sz="1800" b="0">
                <a:solidFill>
                  <a:srgbClr val="52675B"/>
                </a:solidFill>
                <a:latin typeface="Inter"/>
                <a:ea typeface="Inter"/>
                <a:cs typeface="Inter"/>
              </a:defRPr>
            </a:lvl7pPr>
            <a:lvl8pPr>
              <a:defRPr sz="1800" b="0">
                <a:solidFill>
                  <a:srgbClr val="52675B"/>
                </a:solidFill>
                <a:latin typeface="Inter"/>
                <a:ea typeface="Inter"/>
                <a:cs typeface="Inter"/>
              </a:defRPr>
            </a:lvl8pPr>
            <a:lvl9pPr>
              <a:defRPr sz="1800" b="0">
                <a:solidFill>
                  <a:srgbClr val="52675B"/>
                </a:solidFill>
                <a:latin typeface="Inter"/>
                <a:ea typeface="Inter"/>
                <a:cs typeface="Inter"/>
              </a:defRPr>
            </a:lvl9pPr>
          </a:lstStyle>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Configured Gemma connection; execution metadata does not independently verify model identity or hardware.</a:t>
            </a:r>
          </a:p>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Public demo: recorded evidence, without live inference or audio transcription. One run is not a benchmark.</a:t>
            </a:r>
          </a:p>
        </p:txBody>
      </p:sp>
    </p:spTree>
    <p:extLst>
      <p:ext uri="{BB962C8B-B14F-4D97-AF65-F5344CB8AC3E}">
        <p14:creationId xmlns:p14="http://schemas.microsoft.com/office/powerpoint/2010/main" val="1653193231"/>
      </p:ext>
    </p:extLst>
  </p:cSld>
</p:sld>
</file>

<file path=ppt/slides/slide7.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9" name="neon-title-rule">
            <a:extLst xmlns:a="http://schemas.openxmlformats.org/drawingml/2006/main">
              <a:ext uri="{FF2B5EF4-FFF2-40B4-BE49-F238E27FC236}">
                <a16:creationId xmlns:a16="http://schemas.microsoft.com/office/drawing/2014/main" id="{EC9B1004-F780-43C0-89AF-A983CF877774}"/>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9B82048E-5535-4263-8329-958C98E5099E}"/>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Sources and consent keep the limits visible</a:t>
            </a:r>
          </a:p>
        </p:txBody>
      </p:sp>
      <p:sp>
        <p:nvSpPr>
          <p:cNvPr id="3" name="slide-subtitle">
            <a:extLst xmlns:a="http://schemas.openxmlformats.org/drawingml/2006/main">
              <a:ext uri="{FF2B5EF4-FFF2-40B4-BE49-F238E27FC236}">
                <a16:creationId xmlns:a16="http://schemas.microsoft.com/office/drawing/2014/main" id="{94A36D25-AED8-4B88-A62F-96BC80786E73}"/>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Human checks control the next step. Clinical protocol content remains pending.</a:t>
            </a:r>
          </a:p>
        </p:txBody>
      </p:sp>
      <p:sp>
        <p:nvSpPr>
          <p:cNvPr id="4" name="footer-rule">
            <a:extLst xmlns:a="http://schemas.openxmlformats.org/drawingml/2006/main">
              <a:ext uri="{FF2B5EF4-FFF2-40B4-BE49-F238E27FC236}">
                <a16:creationId xmlns:a16="http://schemas.microsoft.com/office/drawing/2014/main" id="{9E06F925-FA7E-4A54-803B-BDA72B1A804C}"/>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129FF16-3AB9-4E4A-88BD-C86637B3DF36}"/>
              </a:ext>
            </a:extLst>
          </p:cNvPr>
          <p:cNvPicPr>
            <a:picLocks xmlns:a="http://schemas.openxmlformats.org/drawingml/2006/main" noChangeAspect="1"/>
          </p:cNvPicPr>
          <p:nvPr/>
        </p:nvPicPr>
        <p:blipFill>
          <a:blip xmlns:r="http://schemas.openxmlformats.org/officeDocument/2006/relationships" xmlns:a="http://schemas.openxmlformats.org/drawingml/2006/main" r:embed="R75bbe03111634d4e"/>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5FCBD8A5-166B-4773-8B84-3331B1FD7CE7}"/>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07</a:t>
            </a:r>
          </a:p>
        </p:txBody>
      </p:sp>
      <p:sp>
        <p:nvSpPr>
          <p:cNvPr id="7" name="consent-guard">
            <a:extLst xmlns:a="http://schemas.openxmlformats.org/drawingml/2006/main">
              <a:ext uri="{FF2B5EF4-FFF2-40B4-BE49-F238E27FC236}">
                <a16:creationId xmlns:a16="http://schemas.microsoft.com/office/drawing/2014/main" id="{E455C95D-1E65-4259-AECA-0558C1324289}"/>
              </a:ext>
            </a:extLst>
          </p:cNvPr>
          <p:cNvSpPr>
            <a:spLocks xmlns:a="http://schemas.openxmlformats.org/drawingml/2006/main" noGrp="1"/>
          </p:cNvSpPr>
          <p:nvPr/>
        </p:nvSpPr>
        <p:spPr>
          <a:xfrm xmlns:a="http://schemas.openxmlformats.org/drawingml/2006/main">
            <a:off x="914400" y="2762250"/>
            <a:ext cx="7562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Refusal blocks contact</a:t>
            </a:r>
          </a:p>
        </p:txBody>
      </p:sp>
      <p:sp>
        <p:nvSpPr>
          <p:cNvPr id="8" name="source-guard">
            <a:extLst xmlns:a="http://schemas.openxmlformats.org/drawingml/2006/main">
              <a:ext uri="{FF2B5EF4-FFF2-40B4-BE49-F238E27FC236}">
                <a16:creationId xmlns:a16="http://schemas.microsoft.com/office/drawing/2014/main" id="{C445F5DF-77C4-4ABB-AF95-2E04D0B8B32C}"/>
              </a:ext>
            </a:extLst>
          </p:cNvPr>
          <p:cNvSpPr>
            <a:spLocks xmlns:a="http://schemas.openxmlformats.org/drawingml/2006/main" noGrp="1"/>
          </p:cNvSpPr>
          <p:nvPr/>
        </p:nvSpPr>
        <p:spPr>
          <a:xfrm xmlns:a="http://schemas.openxmlformats.org/drawingml/2006/main">
            <a:off x="914400" y="3714750"/>
            <a:ext cx="75628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A changed source invalidates review</a:t>
            </a:r>
          </a:p>
        </p:txBody>
      </p:sp>
      <p:sp>
        <p:nvSpPr>
          <p:cNvPr id="9" name="clinical-guard">
            <a:extLst xmlns:a="http://schemas.openxmlformats.org/drawingml/2006/main">
              <a:ext uri="{FF2B5EF4-FFF2-40B4-BE49-F238E27FC236}">
                <a16:creationId xmlns:a16="http://schemas.microsoft.com/office/drawing/2014/main" id="{483D36C6-DCF9-4CA2-B9F1-11152E317460}"/>
              </a:ext>
            </a:extLst>
          </p:cNvPr>
          <p:cNvSpPr>
            <a:spLocks xmlns:a="http://schemas.openxmlformats.org/drawingml/2006/main" noGrp="1"/>
          </p:cNvSpPr>
          <p:nvPr/>
        </p:nvSpPr>
        <p:spPr>
          <a:xfrm xmlns:a="http://schemas.openxmlformats.org/drawingml/2006/main">
            <a:off x="914400" y="510540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Conflicts and clinical questions</a:t>
            </a:r>
          </a:p>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go to the responsible team</a:t>
            </a:r>
          </a:p>
        </p:txBody>
      </p:sp>
      <p:sp>
        <p:nvSpPr>
          <p:cNvPr id="10" name="record-guard">
            <a:extLst xmlns:a="http://schemas.openxmlformats.org/drawingml/2006/main">
              <a:ext uri="{FF2B5EF4-FFF2-40B4-BE49-F238E27FC236}">
                <a16:creationId xmlns:a16="http://schemas.microsoft.com/office/drawing/2014/main" id="{6003F886-F1B8-4A19-A6F3-1030FC03906F}"/>
              </a:ext>
            </a:extLst>
          </p:cNvPr>
          <p:cNvSpPr>
            <a:spLocks xmlns:a="http://schemas.openxmlformats.org/drawingml/2006/main" noGrp="1"/>
          </p:cNvSpPr>
          <p:nvPr/>
        </p:nvSpPr>
        <p:spPr>
          <a:xfrm xmlns:a="http://schemas.openxmlformats.org/drawingml/2006/main">
            <a:off x="914400" y="6724650"/>
            <a:ext cx="75628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2"/>
                </a:solidFill>
                <a:latin typeface="Inter"/>
                <a:ea typeface="Inter"/>
                <a:cs typeface="Inter"/>
              </a:defRPr>
            </a:defPPr>
            <a:lvl1pPr>
              <a:defRPr sz="2700" b="1">
                <a:solidFill>
                  <a:srgbClr val="203D32"/>
                </a:solidFill>
                <a:latin typeface="Inter"/>
                <a:ea typeface="Inter"/>
                <a:cs typeface="Inter"/>
              </a:defRPr>
            </a:lvl1pPr>
            <a:lvl2pPr>
              <a:defRPr sz="2700" b="1">
                <a:solidFill>
                  <a:srgbClr val="203D32"/>
                </a:solidFill>
                <a:latin typeface="Inter"/>
                <a:ea typeface="Inter"/>
                <a:cs typeface="Inter"/>
              </a:defRPr>
            </a:lvl2pPr>
            <a:lvl3pPr>
              <a:defRPr sz="2700" b="1">
                <a:solidFill>
                  <a:srgbClr val="203D32"/>
                </a:solidFill>
                <a:latin typeface="Inter"/>
                <a:ea typeface="Inter"/>
                <a:cs typeface="Inter"/>
              </a:defRPr>
            </a:lvl3pPr>
            <a:lvl4pPr>
              <a:defRPr sz="2700" b="1">
                <a:solidFill>
                  <a:srgbClr val="203D32"/>
                </a:solidFill>
                <a:latin typeface="Inter"/>
                <a:ea typeface="Inter"/>
                <a:cs typeface="Inter"/>
              </a:defRPr>
            </a:lvl4pPr>
            <a:lvl5pPr>
              <a:defRPr sz="2700" b="1">
                <a:solidFill>
                  <a:srgbClr val="203D32"/>
                </a:solidFill>
                <a:latin typeface="Inter"/>
                <a:ea typeface="Inter"/>
                <a:cs typeface="Inter"/>
              </a:defRPr>
            </a:lvl5pPr>
            <a:lvl6pPr>
              <a:defRPr sz="2700" b="1">
                <a:solidFill>
                  <a:srgbClr val="203D32"/>
                </a:solidFill>
                <a:latin typeface="Inter"/>
                <a:ea typeface="Inter"/>
                <a:cs typeface="Inter"/>
              </a:defRPr>
            </a:lvl6pPr>
            <a:lvl7pPr>
              <a:defRPr sz="2700" b="1">
                <a:solidFill>
                  <a:srgbClr val="203D32"/>
                </a:solidFill>
                <a:latin typeface="Inter"/>
                <a:ea typeface="Inter"/>
                <a:cs typeface="Inter"/>
              </a:defRPr>
            </a:lvl7pPr>
            <a:lvl8pPr>
              <a:defRPr sz="2700" b="1">
                <a:solidFill>
                  <a:srgbClr val="203D32"/>
                </a:solidFill>
                <a:latin typeface="Inter"/>
                <a:ea typeface="Inter"/>
                <a:cs typeface="Inter"/>
              </a:defRPr>
            </a:lvl8pPr>
            <a:lvl9pPr>
              <a:defRPr sz="2700" b="1">
                <a:solidFill>
                  <a:srgbClr val="203D32"/>
                </a:solidFill>
                <a:latin typeface="Inter"/>
                <a:ea typeface="Inter"/>
                <a:cs typeface="Inter"/>
              </a:defRPr>
            </a:lvl9pPr>
          </a:lstStyle>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The export remains a draft</a:t>
            </a:r>
          </a:p>
          <a:p xmlns:a="http://schemas.openxmlformats.org/drawingml/2006/main">
            <a:pPr>
              <a:buNone/>
              <a:defRPr sz="2700" b="1">
                <a:solidFill>
                  <a:srgbClr val="203D32"/>
                </a:solidFill>
                <a:latin typeface="Inter"/>
                <a:ea typeface="Inter"/>
                <a:cs typeface="Inter"/>
              </a:defRPr>
            </a:pPr>
            <a:r>
              <a:rPr sz="2700" b="1">
                <a:solidFill>
                  <a:srgbClr val="203D32"/>
                </a:solidFill>
                <a:latin typeface="Inter"/>
                <a:ea typeface="Inter"/>
                <a:cs typeface="Inter"/>
              </a:rPr>
              <a:t>for human review</a:t>
            </a:r>
          </a:p>
        </p:txBody>
      </p:sp>
      <p:sp>
        <p:nvSpPr>
          <p:cNvPr id="11" name="clinical-protocol-limit">
            <a:extLst xmlns:a="http://schemas.openxmlformats.org/drawingml/2006/main">
              <a:ext uri="{FF2B5EF4-FFF2-40B4-BE49-F238E27FC236}">
                <a16:creationId xmlns:a16="http://schemas.microsoft.com/office/drawing/2014/main" id="{B06001BC-B070-48CE-94B8-715958DBF975}"/>
              </a:ext>
            </a:extLst>
          </p:cNvPr>
          <p:cNvSpPr>
            <a:spLocks xmlns:a="http://schemas.openxmlformats.org/drawingml/2006/main" noGrp="1"/>
          </p:cNvSpPr>
          <p:nvPr/>
        </p:nvSpPr>
        <p:spPr>
          <a:xfrm xmlns:a="http://schemas.openxmlformats.org/drawingml/2006/main">
            <a:off x="914400" y="8286750"/>
            <a:ext cx="7562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Authorised surgical instructions remain pending.</a:t>
            </a:r>
          </a:p>
        </p:txBody>
      </p:sp>
      <p:sp>
        <p:nvSpPr>
          <p:cNvPr id="12" name="timeline-divider">
            <a:extLst xmlns:a="http://schemas.openxmlformats.org/drawingml/2006/main">
              <a:ext uri="{FF2B5EF4-FFF2-40B4-BE49-F238E27FC236}">
                <a16:creationId xmlns:a16="http://schemas.microsoft.com/office/drawing/2014/main" id="{7CB4C734-AB95-41B1-A912-E1E4EB00945B}"/>
              </a:ext>
            </a:extLst>
          </p:cNvPr>
          <p:cNvSpPr>
            <a:spLocks xmlns:a="http://schemas.openxmlformats.org/drawingml/2006/main" noGrp="1"/>
          </p:cNvSpPr>
          <p:nvPr/>
        </p:nvSpPr>
        <p:spPr>
          <a:xfrm xmlns:a="http://schemas.openxmlformats.org/drawingml/2006/main">
            <a:off x="9058275" y="2667000"/>
            <a:ext cx="9525" cy="6153150"/>
          </a:xfrm>
          <a:prstGeom xmlns:a="http://schemas.openxmlformats.org/drawingml/2006/main" prst="rect">
            <a:avLst/>
          </a:prstGeom>
          <a:solidFill xmlns:a="http://schemas.openxmlformats.org/drawingml/2006/main">
            <a:srgbClr val="C5CFBF"/>
          </a:solidFill>
          <a:ln xmlns:a="http://schemas.openxmlformats.org/drawingml/2006/main" w="0">
            <a:noFill/>
          </a:ln>
        </p:spPr>
      </p:sp>
      <p:sp>
        <p:nvSpPr>
          <p:cNvPr id="13" name="baseline-date">
            <a:extLst xmlns:a="http://schemas.openxmlformats.org/drawingml/2006/main">
              <a:ext uri="{FF2B5EF4-FFF2-40B4-BE49-F238E27FC236}">
                <a16:creationId xmlns:a16="http://schemas.microsoft.com/office/drawing/2014/main" id="{E1F5155E-1BDF-42B5-A4D1-1AF8965308AF}"/>
              </a:ext>
            </a:extLst>
          </p:cNvPr>
          <p:cNvSpPr>
            <a:spLocks xmlns:a="http://schemas.openxmlformats.org/drawingml/2006/main" noGrp="1"/>
          </p:cNvSpPr>
          <p:nvPr/>
        </p:nvSpPr>
        <p:spPr>
          <a:xfrm xmlns:a="http://schemas.openxmlformats.org/drawingml/2006/main">
            <a:off x="9982200" y="27146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5 October</a:t>
            </a:r>
          </a:p>
        </p:txBody>
      </p:sp>
      <p:sp>
        <p:nvSpPr>
          <p:cNvPr id="14" name="baseline-origin">
            <a:extLst xmlns:a="http://schemas.openxmlformats.org/drawingml/2006/main">
              <a:ext uri="{FF2B5EF4-FFF2-40B4-BE49-F238E27FC236}">
                <a16:creationId xmlns:a16="http://schemas.microsoft.com/office/drawing/2014/main" id="{D99256B5-A316-422A-BD8F-B56C2939DD3E}"/>
              </a:ext>
            </a:extLst>
          </p:cNvPr>
          <p:cNvSpPr>
            <a:spLocks xmlns:a="http://schemas.openxmlformats.org/drawingml/2006/main" noGrp="1"/>
          </p:cNvSpPr>
          <p:nvPr/>
        </p:nvSpPr>
        <p:spPr>
          <a:xfrm xmlns:a="http://schemas.openxmlformats.org/drawingml/2006/main">
            <a:off x="9982200" y="329565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Declared pre-event administrative scaffold.</a:t>
            </a:r>
          </a:p>
        </p:txBody>
      </p:sp>
      <p:sp>
        <p:nvSpPr>
          <p:cNvPr id="15" name="event-date">
            <a:extLst xmlns:a="http://schemas.openxmlformats.org/drawingml/2006/main">
              <a:ext uri="{FF2B5EF4-FFF2-40B4-BE49-F238E27FC236}">
                <a16:creationId xmlns:a16="http://schemas.microsoft.com/office/drawing/2014/main" id="{AD2268D0-9EC6-43F9-B729-408F2805DD40}"/>
              </a:ext>
            </a:extLst>
          </p:cNvPr>
          <p:cNvSpPr>
            <a:spLocks xmlns:a="http://schemas.openxmlformats.org/drawingml/2006/main" noGrp="1"/>
          </p:cNvSpPr>
          <p:nvPr/>
        </p:nvSpPr>
        <p:spPr>
          <a:xfrm xmlns:a="http://schemas.openxmlformats.org/drawingml/2006/main">
            <a:off x="9982200" y="42386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12 October</a:t>
            </a:r>
          </a:p>
        </p:txBody>
      </p:sp>
      <p:sp>
        <p:nvSpPr>
          <p:cNvPr id="16" name="event-origin">
            <a:extLst xmlns:a="http://schemas.openxmlformats.org/drawingml/2006/main">
              <a:ext uri="{FF2B5EF4-FFF2-40B4-BE49-F238E27FC236}">
                <a16:creationId xmlns:a16="http://schemas.microsoft.com/office/drawing/2014/main" id="{0867E7EC-4BBB-460A-833B-BBDD9A367DBE}"/>
              </a:ext>
            </a:extLst>
          </p:cNvPr>
          <p:cNvSpPr>
            <a:spLocks xmlns:a="http://schemas.openxmlformats.org/drawingml/2006/main" noGrp="1"/>
          </p:cNvSpPr>
          <p:nvPr/>
        </p:nvSpPr>
        <p:spPr>
          <a:xfrm xmlns:a="http://schemas.openxmlformats.org/drawingml/2006/main">
            <a:off x="9982200" y="481965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Source review and real Qwen execution on AMD.</a:t>
            </a:r>
          </a:p>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Recorded playback and interface improvements.</a:t>
            </a:r>
          </a:p>
        </p:txBody>
      </p:sp>
      <p:sp>
        <p:nvSpPr>
          <p:cNvPr id="17" name="increment-date">
            <a:extLst xmlns:a="http://schemas.openxmlformats.org/drawingml/2006/main">
              <a:ext uri="{FF2B5EF4-FFF2-40B4-BE49-F238E27FC236}">
                <a16:creationId xmlns:a16="http://schemas.microsoft.com/office/drawing/2014/main" id="{E6E62EF5-D12F-4F7B-99E4-E7707B6ED836}"/>
              </a:ext>
            </a:extLst>
          </p:cNvPr>
          <p:cNvSpPr>
            <a:spLocks xmlns:a="http://schemas.openxmlformats.org/drawingml/2006/main" noGrp="1"/>
          </p:cNvSpPr>
          <p:nvPr/>
        </p:nvSpPr>
        <p:spPr>
          <a:xfrm xmlns:a="http://schemas.openxmlformats.org/drawingml/2006/main">
            <a:off x="9982200" y="585787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buNone/>
              <a:defRPr sz="2475" b="1">
                <a:solidFill>
                  <a:srgbClr val="101510"/>
                </a:solidFill>
                <a:latin typeface="Inter"/>
                <a:ea typeface="Inter"/>
                <a:cs typeface="Inter"/>
              </a:defRPr>
            </a:pPr>
            <a:r>
              <a:rPr sz="2475" b="1">
                <a:solidFill>
                  <a:srgbClr val="101510"/>
                </a:solidFill>
                <a:latin typeface="Inter"/>
                <a:ea typeface="Inter"/>
                <a:cs typeface="Inter"/>
              </a:rPr>
              <a:t>14 October</a:t>
            </a:r>
          </a:p>
        </p:txBody>
      </p:sp>
      <p:sp>
        <p:nvSpPr>
          <p:cNvPr id="18" name="increment-origin">
            <a:extLst xmlns:a="http://schemas.openxmlformats.org/drawingml/2006/main">
              <a:ext uri="{FF2B5EF4-FFF2-40B4-BE49-F238E27FC236}">
                <a16:creationId xmlns:a16="http://schemas.microsoft.com/office/drawing/2014/main" id="{5FBA4D6E-D34D-4DAA-B8CF-AE3EB16AC328}"/>
              </a:ext>
            </a:extLst>
          </p:cNvPr>
          <p:cNvSpPr>
            <a:spLocks xmlns:a="http://schemas.openxmlformats.org/drawingml/2006/main" noGrp="1"/>
          </p:cNvSpPr>
          <p:nvPr/>
        </p:nvSpPr>
        <p:spPr>
          <a:xfrm xmlns:a="http://schemas.openxmlformats.org/drawingml/2006/main">
            <a:off x="9982200" y="6438900"/>
            <a:ext cx="739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Doctor workspace and local CPU transcription.</a:t>
            </a:r>
          </a:p>
          <a:p xmlns:a="http://schemas.openxmlformats.org/drawingml/2006/main">
            <a:pPr>
              <a:buNone/>
              <a:defRPr sz="2025" b="0">
                <a:solidFill>
                  <a:srgbClr val="52675B"/>
                </a:solidFill>
                <a:latin typeface="Inter"/>
                <a:ea typeface="Inter"/>
                <a:cs typeface="Inter"/>
              </a:defRPr>
            </a:pPr>
            <a:r>
              <a:rPr sz="2025" b="0">
                <a:solidFill>
                  <a:srgbClr val="52675B"/>
                </a:solidFill>
                <a:latin typeface="Inter"/>
                <a:ea typeface="Inter"/>
                <a:cs typeface="Inter"/>
              </a:rPr>
              <a:t>Gemma service tests and recorded evidence.</a:t>
            </a:r>
          </a:p>
        </p:txBody>
      </p:sp>
      <p:sp>
        <p:nvSpPr>
          <p:cNvPr id="20" name="evolus-date">
            <a:extLst xmlns:a="http://schemas.openxmlformats.org/drawingml/2006/main">
              <a:ext uri="{FF2B5EF4-FFF2-40B4-BE49-F238E27FC236}">
                <a16:creationId xmlns:a16="http://schemas.microsoft.com/office/drawing/2014/main" id="{317C6CBB-2632-4134-B3B1-8EF75B28B1F0}"/>
              </a:ext>
            </a:extLst>
          </p:cNvPr>
          <p:cNvSpPr>
            <a:spLocks xmlns:a="http://schemas.openxmlformats.org/drawingml/2006/main" noGrp="1"/>
          </p:cNvSpPr>
          <p:nvPr/>
        </p:nvSpPr>
        <p:spPr>
          <a:xfrm xmlns:a="http://schemas.openxmlformats.org/drawingml/2006/main">
            <a:off x="9982200" y="7477125"/>
            <a:ext cx="739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01510"/>
                </a:solidFill>
                <a:latin typeface="Inter"/>
                <a:ea typeface="Inter"/>
                <a:cs typeface="Inter"/>
              </a:defRPr>
            </a:defPPr>
            <a:lvl1pPr>
              <a:defRPr sz="2475" b="1">
                <a:solidFill>
                  <a:srgbClr val="101510"/>
                </a:solidFill>
                <a:latin typeface="Inter"/>
                <a:ea typeface="Inter"/>
                <a:cs typeface="Inter"/>
              </a:defRPr>
            </a:lvl1pPr>
            <a:lvl2pPr>
              <a:defRPr sz="2475" b="1">
                <a:solidFill>
                  <a:srgbClr val="101510"/>
                </a:solidFill>
                <a:latin typeface="Inter"/>
                <a:ea typeface="Inter"/>
                <a:cs typeface="Inter"/>
              </a:defRPr>
            </a:lvl2pPr>
            <a:lvl3pPr>
              <a:defRPr sz="2475" b="1">
                <a:solidFill>
                  <a:srgbClr val="101510"/>
                </a:solidFill>
                <a:latin typeface="Inter"/>
                <a:ea typeface="Inter"/>
                <a:cs typeface="Inter"/>
              </a:defRPr>
            </a:lvl3pPr>
            <a:lvl4pPr>
              <a:defRPr sz="2475" b="1">
                <a:solidFill>
                  <a:srgbClr val="101510"/>
                </a:solidFill>
                <a:latin typeface="Inter"/>
                <a:ea typeface="Inter"/>
                <a:cs typeface="Inter"/>
              </a:defRPr>
            </a:lvl4pPr>
            <a:lvl5pPr>
              <a:defRPr sz="2475" b="1">
                <a:solidFill>
                  <a:srgbClr val="101510"/>
                </a:solidFill>
                <a:latin typeface="Inter"/>
                <a:ea typeface="Inter"/>
                <a:cs typeface="Inter"/>
              </a:defRPr>
            </a:lvl5pPr>
            <a:lvl6pPr>
              <a:defRPr sz="2475" b="1">
                <a:solidFill>
                  <a:srgbClr val="101510"/>
                </a:solidFill>
                <a:latin typeface="Inter"/>
                <a:ea typeface="Inter"/>
                <a:cs typeface="Inter"/>
              </a:defRPr>
            </a:lvl6pPr>
            <a:lvl7pPr>
              <a:defRPr sz="2475" b="1">
                <a:solidFill>
                  <a:srgbClr val="101510"/>
                </a:solidFill>
                <a:latin typeface="Inter"/>
                <a:ea typeface="Inter"/>
                <a:cs typeface="Inter"/>
              </a:defRPr>
            </a:lvl7pPr>
            <a:lvl8pPr>
              <a:defRPr sz="2475" b="1">
                <a:solidFill>
                  <a:srgbClr val="101510"/>
                </a:solidFill>
                <a:latin typeface="Inter"/>
                <a:ea typeface="Inter"/>
                <a:cs typeface="Inter"/>
              </a:defRPr>
            </a:lvl8pPr>
            <a:lvl9pPr>
              <a:defRPr sz="2475" b="1">
                <a:solidFill>
                  <a:srgbClr val="101510"/>
                </a:solidFill>
                <a:latin typeface="Inter"/>
                <a:ea typeface="Inter"/>
                <a:cs typeface="Inter"/>
              </a:defRPr>
            </a:lvl9pPr>
          </a:lstStyle>
          <a:p xmlns:a="http://schemas.openxmlformats.org/drawingml/2006/main">
            <a:pPr>
              <a:defRPr sz="2475" b="1">
                <a:solidFill>
                  <a:srgbClr val="101510"/>
                </a:solidFill>
                <a:latin typeface="Inter"/>
                <a:ea typeface="Inter"/>
                <a:cs typeface="Inter"/>
              </a:defRPr>
            </a:pPr>
            <a:r>
              <a:rPr sz="2475" b="1">
                <a:solidFill>
                  <a:srgbClr val="101510"/>
                </a:solidFill>
                <a:latin typeface="Inter"/>
                <a:ea typeface="Inter"/>
                <a:cs typeface="Inter"/>
              </a:rPr>
              <a:t>16 October</a:t>
            </a:r>
          </a:p>
        </p:txBody>
      </p:sp>
      <p:sp>
        <p:nvSpPr>
          <p:cNvPr id="21" name="evolus-origin">
            <a:extLst xmlns:a="http://schemas.openxmlformats.org/drawingml/2006/main">
              <a:ext uri="{FF2B5EF4-FFF2-40B4-BE49-F238E27FC236}">
                <a16:creationId xmlns:a16="http://schemas.microsoft.com/office/drawing/2014/main" id="{029B14B3-0BA3-4325-B4A1-600C70299498}"/>
              </a:ext>
            </a:extLst>
          </p:cNvPr>
          <p:cNvSpPr>
            <a:spLocks xmlns:a="http://schemas.openxmlformats.org/drawingml/2006/main" noGrp="1"/>
          </p:cNvSpPr>
          <p:nvPr/>
        </p:nvSpPr>
        <p:spPr>
          <a:xfrm xmlns:a="http://schemas.openxmlformats.org/drawingml/2006/main">
            <a:off x="9982200" y="8058150"/>
            <a:ext cx="7391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75B"/>
                </a:solidFill>
                <a:latin typeface="Inter"/>
                <a:ea typeface="Inter"/>
                <a:cs typeface="Inter"/>
              </a:defRPr>
            </a:defPPr>
            <a:lvl1pPr>
              <a:defRPr sz="2025" b="0">
                <a:solidFill>
                  <a:srgbClr val="52675B"/>
                </a:solidFill>
                <a:latin typeface="Inter"/>
                <a:ea typeface="Inter"/>
                <a:cs typeface="Inter"/>
              </a:defRPr>
            </a:lvl1pPr>
            <a:lvl2pPr>
              <a:defRPr sz="2025" b="0">
                <a:solidFill>
                  <a:srgbClr val="52675B"/>
                </a:solidFill>
                <a:latin typeface="Inter"/>
                <a:ea typeface="Inter"/>
                <a:cs typeface="Inter"/>
              </a:defRPr>
            </a:lvl2pPr>
            <a:lvl3pPr>
              <a:defRPr sz="2025" b="0">
                <a:solidFill>
                  <a:srgbClr val="52675B"/>
                </a:solidFill>
                <a:latin typeface="Inter"/>
                <a:ea typeface="Inter"/>
                <a:cs typeface="Inter"/>
              </a:defRPr>
            </a:lvl3pPr>
            <a:lvl4pPr>
              <a:defRPr sz="2025" b="0">
                <a:solidFill>
                  <a:srgbClr val="52675B"/>
                </a:solidFill>
                <a:latin typeface="Inter"/>
                <a:ea typeface="Inter"/>
                <a:cs typeface="Inter"/>
              </a:defRPr>
            </a:lvl4pPr>
            <a:lvl5pPr>
              <a:defRPr sz="2025" b="0">
                <a:solidFill>
                  <a:srgbClr val="52675B"/>
                </a:solidFill>
                <a:latin typeface="Inter"/>
                <a:ea typeface="Inter"/>
                <a:cs typeface="Inter"/>
              </a:defRPr>
            </a:lvl5pPr>
            <a:lvl6pPr>
              <a:defRPr sz="2025" b="0">
                <a:solidFill>
                  <a:srgbClr val="52675B"/>
                </a:solidFill>
                <a:latin typeface="Inter"/>
                <a:ea typeface="Inter"/>
                <a:cs typeface="Inter"/>
              </a:defRPr>
            </a:lvl6pPr>
            <a:lvl7pPr>
              <a:defRPr sz="2025" b="0">
                <a:solidFill>
                  <a:srgbClr val="52675B"/>
                </a:solidFill>
                <a:latin typeface="Inter"/>
                <a:ea typeface="Inter"/>
                <a:cs typeface="Inter"/>
              </a:defRPr>
            </a:lvl7pPr>
            <a:lvl8pPr>
              <a:defRPr sz="2025" b="0">
                <a:solidFill>
                  <a:srgbClr val="52675B"/>
                </a:solidFill>
                <a:latin typeface="Inter"/>
                <a:ea typeface="Inter"/>
                <a:cs typeface="Inter"/>
              </a:defRPr>
            </a:lvl8pPr>
            <a:lvl9pPr>
              <a:defRPr sz="2025" b="0">
                <a:solidFill>
                  <a:srgbClr val="52675B"/>
                </a:solidFill>
                <a:latin typeface="Inter"/>
                <a:ea typeface="Inter"/>
                <a:cs typeface="Inter"/>
              </a:defRPr>
            </a:lvl9pPr>
          </a:lstStyle>
          <a:p xmlns:a="http://schemas.openxmlformats.org/drawingml/2006/main">
            <a:pPr>
              <a:defRPr sz="2025" b="0">
                <a:solidFill>
                  <a:srgbClr val="52675B"/>
                </a:solidFill>
                <a:latin typeface="Inter"/>
                <a:ea typeface="Inter"/>
                <a:cs typeface="Inter"/>
              </a:defRPr>
            </a:pPr>
            <a:r>
              <a:rPr sz="2025" b="0">
                <a:solidFill>
                  <a:srgbClr val="52675B"/>
                </a:solidFill>
                <a:latin typeface="Inter"/>
                <a:ea typeface="Inter"/>
                <a:cs typeface="Inter"/>
              </a:rPr>
              <a:t>PatientKeeper to Evolus with configured Gemma.</a:t>
            </a:r>
          </a:p>
          <a:p xmlns:a="http://schemas.openxmlformats.org/drawingml/2006/main">
            <a:pPr>
              <a:defRPr sz="2025" b="0">
                <a:solidFill>
                  <a:srgbClr val="52675B"/>
                </a:solidFill>
                <a:latin typeface="Inter"/>
                <a:ea typeface="Inter"/>
                <a:cs typeface="Inter"/>
              </a:defRPr>
            </a:pPr>
            <a:r>
              <a:rPr sz="2025" b="0">
                <a:solidFill>
                  <a:srgbClr val="52675B"/>
                </a:solidFill>
                <a:latin typeface="Inter"/>
                <a:ea typeface="Inter"/>
                <a:cs typeface="Inter"/>
              </a:rPr>
              <a:t>One real result; current-source and context checks.</a:t>
            </a:r>
          </a:p>
        </p:txBody>
      </p:sp>
    </p:spTree>
    <p:extLst>
      <p:ext uri="{BB962C8B-B14F-4D97-AF65-F5344CB8AC3E}">
        <p14:creationId xmlns:p14="http://schemas.microsoft.com/office/powerpoint/2010/main" val="1468171958"/>
      </p:ext>
    </p:extLst>
  </p:cSld>
</p:sld>
</file>

<file path=ppt/slides/slide8.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5" name="neon-title-rule">
            <a:extLst xmlns:a="http://schemas.openxmlformats.org/drawingml/2006/main">
              <a:ext uri="{FF2B5EF4-FFF2-40B4-BE49-F238E27FC236}">
                <a16:creationId xmlns:a16="http://schemas.microsoft.com/office/drawing/2014/main" id="{F5365377-7582-4491-BDF1-20C054EB975C}"/>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1EB44249-FE09-47A2-87A0-1056BC530685}"/>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Illustrative documentation scenario</a:t>
            </a:r>
          </a:p>
        </p:txBody>
      </p:sp>
      <p:sp>
        <p:nvSpPr>
          <p:cNvPr id="3" name="slide-subtitle">
            <a:extLst xmlns:a="http://schemas.openxmlformats.org/drawingml/2006/main">
              <a:ext uri="{FF2B5EF4-FFF2-40B4-BE49-F238E27FC236}">
                <a16:creationId xmlns:a16="http://schemas.microsoft.com/office/drawing/2014/main" id="{F13AEF34-53DC-4D1F-9336-749644B8632E}"/>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defRPr sz="2175" b="0">
                <a:solidFill>
                  <a:srgbClr val="52675B"/>
                </a:solidFill>
                <a:latin typeface="Inter"/>
                <a:ea typeface="Inter"/>
                <a:cs typeface="Inter"/>
              </a:defRPr>
            </a:pPr>
            <a:r>
              <a:rPr sz="2175" b="0">
                <a:solidFill>
                  <a:srgbClr val="52675B"/>
                </a:solidFill>
                <a:latin typeface="Inter"/>
                <a:ea typeface="Inter"/>
                <a:cs typeface="Inter"/>
              </a:rPr>
              <a:t>A reported routine, an assisted-time assumption and a conditional difference</a:t>
            </a:r>
          </a:p>
        </p:txBody>
      </p:sp>
      <p:sp>
        <p:nvSpPr>
          <p:cNvPr id="4" name="footer-rule">
            <a:extLst xmlns:a="http://schemas.openxmlformats.org/drawingml/2006/main">
              <a:ext uri="{FF2B5EF4-FFF2-40B4-BE49-F238E27FC236}">
                <a16:creationId xmlns:a16="http://schemas.microsoft.com/office/drawing/2014/main" id="{F94C8294-8D15-4FA8-941C-CDA4D1CF9D95}"/>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DC281BC3-2CD8-48A3-BCEB-6506684FFCEC}"/>
              </a:ext>
            </a:extLst>
          </p:cNvPr>
          <p:cNvPicPr>
            <a:picLocks xmlns:a="http://schemas.openxmlformats.org/drawingml/2006/main" noChangeAspect="1"/>
          </p:cNvPicPr>
          <p:nvPr/>
        </p:nvPicPr>
        <p:blipFill>
          <a:blip xmlns:r="http://schemas.openxmlformats.org/officeDocument/2006/relationships" xmlns:a="http://schemas.openxmlformats.org/drawingml/2006/main" r:embed="R1eccac584ab34832"/>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E0CE9A0C-8431-4A78-961F-C18E187D8EF1}"/>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08</a:t>
            </a:r>
          </a:p>
        </p:txBody>
      </p:sp>
      <p:sp>
        <p:nvSpPr>
          <p:cNvPr id="7" name="target-label">
            <a:extLst xmlns:a="http://schemas.openxmlformats.org/drawingml/2006/main">
              <a:ext uri="{FF2B5EF4-FFF2-40B4-BE49-F238E27FC236}">
                <a16:creationId xmlns:a16="http://schemas.microsoft.com/office/drawing/2014/main" id="{977B67AD-431C-46AA-8744-A7308FA57BAA}"/>
              </a:ext>
            </a:extLst>
          </p:cNvPr>
          <p:cNvSpPr>
            <a:spLocks xmlns:a="http://schemas.openxmlformats.org/drawingml/2006/main" noGrp="1"/>
          </p:cNvSpPr>
          <p:nvPr/>
        </p:nvSpPr>
        <p:spPr>
          <a:xfrm xmlns:a="http://schemas.openxmlformats.org/drawingml/2006/main">
            <a:off x="914400" y="2714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REPORTED BASELINE</a:t>
            </a:r>
          </a:p>
        </p:txBody>
      </p:sp>
      <p:sp>
        <p:nvSpPr>
          <p:cNvPr id="8" name="conditional-daily-value">
            <a:extLst xmlns:a="http://schemas.openxmlformats.org/drawingml/2006/main">
              <a:ext uri="{FF2B5EF4-FFF2-40B4-BE49-F238E27FC236}">
                <a16:creationId xmlns:a16="http://schemas.microsoft.com/office/drawing/2014/main" id="{2DEFFC90-D29D-4E84-A9A7-E5991EADE50D}"/>
              </a:ext>
            </a:extLst>
          </p:cNvPr>
          <p:cNvSpPr>
            <a:spLocks xmlns:a="http://schemas.openxmlformats.org/drawingml/2006/main" noGrp="1"/>
          </p:cNvSpPr>
          <p:nvPr/>
        </p:nvSpPr>
        <p:spPr>
          <a:xfrm xmlns:a="http://schemas.openxmlformats.org/drawingml/2006/main">
            <a:off x="914400" y="3638550"/>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90 min/day</a:t>
            </a:r>
          </a:p>
        </p:txBody>
      </p:sp>
      <p:sp>
        <p:nvSpPr>
          <p:cNvPr id="9" name="conditional-formula">
            <a:extLst xmlns:a="http://schemas.openxmlformats.org/drawingml/2006/main">
              <a:ext uri="{FF2B5EF4-FFF2-40B4-BE49-F238E27FC236}">
                <a16:creationId xmlns:a16="http://schemas.microsoft.com/office/drawing/2014/main" id="{1B925534-CB8F-458B-85EA-4E64DC1DF281}"/>
              </a:ext>
            </a:extLst>
          </p:cNvPr>
          <p:cNvSpPr>
            <a:spLocks xmlns:a="http://schemas.openxmlformats.org/drawingml/2006/main" noGrp="1"/>
          </p:cNvSpPr>
          <p:nvPr/>
        </p:nvSpPr>
        <p:spPr>
          <a:xfrm xmlns:a="http://schemas.openxmlformats.org/drawingml/2006/main">
            <a:off x="6524625" y="3638550"/>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60 min/day</a:t>
            </a:r>
          </a:p>
        </p:txBody>
      </p:sp>
      <p:sp>
        <p:nvSpPr>
          <p:cNvPr id="10" name="net-target-condition">
            <a:extLst xmlns:a="http://schemas.openxmlformats.org/drawingml/2006/main">
              <a:ext uri="{FF2B5EF4-FFF2-40B4-BE49-F238E27FC236}">
                <a16:creationId xmlns:a16="http://schemas.microsoft.com/office/drawing/2014/main" id="{34E7457F-4F31-4BD9-8C73-5AEBAE74676C}"/>
              </a:ext>
            </a:extLst>
          </p:cNvPr>
          <p:cNvSpPr>
            <a:spLocks xmlns:a="http://schemas.openxmlformats.org/drawingml/2006/main" noGrp="1"/>
          </p:cNvSpPr>
          <p:nvPr/>
        </p:nvSpPr>
        <p:spPr>
          <a:xfrm xmlns:a="http://schemas.openxmlformats.org/drawingml/2006/main">
            <a:off x="6524625" y="27146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ASSUMED ASSISTED TIME</a:t>
            </a:r>
          </a:p>
        </p:txBody>
      </p:sp>
      <p:sp>
        <p:nvSpPr>
          <p:cNvPr id="11" name="report-label">
            <a:extLst xmlns:a="http://schemas.openxmlformats.org/drawingml/2006/main">
              <a:ext uri="{FF2B5EF4-FFF2-40B4-BE49-F238E27FC236}">
                <a16:creationId xmlns:a16="http://schemas.microsoft.com/office/drawing/2014/main" id="{FDC40FBA-2E7A-482E-A307-5F36D5B93139}"/>
              </a:ext>
            </a:extLst>
          </p:cNvPr>
          <p:cNvSpPr>
            <a:spLocks xmlns:a="http://schemas.openxmlformats.org/drawingml/2006/main" noGrp="1"/>
          </p:cNvSpPr>
          <p:nvPr/>
        </p:nvSpPr>
        <p:spPr>
          <a:xfrm xmlns:a="http://schemas.openxmlformats.org/drawingml/2006/main">
            <a:off x="12134850" y="2714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52675B"/>
                </a:solidFill>
                <a:latin typeface="Inter"/>
                <a:ea typeface="Inter"/>
                <a:cs typeface="Inter"/>
              </a:defRPr>
            </a:defPPr>
            <a:lvl1pPr>
              <a:defRPr sz="1800" b="1">
                <a:solidFill>
                  <a:srgbClr val="52675B"/>
                </a:solidFill>
                <a:latin typeface="Inter"/>
                <a:ea typeface="Inter"/>
                <a:cs typeface="Inter"/>
              </a:defRPr>
            </a:lvl1pPr>
            <a:lvl2pPr>
              <a:defRPr sz="1800" b="1">
                <a:solidFill>
                  <a:srgbClr val="52675B"/>
                </a:solidFill>
                <a:latin typeface="Inter"/>
                <a:ea typeface="Inter"/>
                <a:cs typeface="Inter"/>
              </a:defRPr>
            </a:lvl2pPr>
            <a:lvl3pPr>
              <a:defRPr sz="1800" b="1">
                <a:solidFill>
                  <a:srgbClr val="52675B"/>
                </a:solidFill>
                <a:latin typeface="Inter"/>
                <a:ea typeface="Inter"/>
                <a:cs typeface="Inter"/>
              </a:defRPr>
            </a:lvl3pPr>
            <a:lvl4pPr>
              <a:defRPr sz="1800" b="1">
                <a:solidFill>
                  <a:srgbClr val="52675B"/>
                </a:solidFill>
                <a:latin typeface="Inter"/>
                <a:ea typeface="Inter"/>
                <a:cs typeface="Inter"/>
              </a:defRPr>
            </a:lvl4pPr>
            <a:lvl5pPr>
              <a:defRPr sz="1800" b="1">
                <a:solidFill>
                  <a:srgbClr val="52675B"/>
                </a:solidFill>
                <a:latin typeface="Inter"/>
                <a:ea typeface="Inter"/>
                <a:cs typeface="Inter"/>
              </a:defRPr>
            </a:lvl5pPr>
            <a:lvl6pPr>
              <a:defRPr sz="1800" b="1">
                <a:solidFill>
                  <a:srgbClr val="52675B"/>
                </a:solidFill>
                <a:latin typeface="Inter"/>
                <a:ea typeface="Inter"/>
                <a:cs typeface="Inter"/>
              </a:defRPr>
            </a:lvl6pPr>
            <a:lvl7pPr>
              <a:defRPr sz="1800" b="1">
                <a:solidFill>
                  <a:srgbClr val="52675B"/>
                </a:solidFill>
                <a:latin typeface="Inter"/>
                <a:ea typeface="Inter"/>
                <a:cs typeface="Inter"/>
              </a:defRPr>
            </a:lvl7pPr>
            <a:lvl8pPr>
              <a:defRPr sz="1800" b="1">
                <a:solidFill>
                  <a:srgbClr val="52675B"/>
                </a:solidFill>
                <a:latin typeface="Inter"/>
                <a:ea typeface="Inter"/>
                <a:cs typeface="Inter"/>
              </a:defRPr>
            </a:lvl8pPr>
            <a:lvl9pPr>
              <a:defRPr sz="1800" b="1">
                <a:solidFill>
                  <a:srgbClr val="52675B"/>
                </a:solidFill>
                <a:latin typeface="Inter"/>
                <a:ea typeface="Inter"/>
                <a:cs typeface="Inter"/>
              </a:defRPr>
            </a:lvl9pPr>
          </a:lstStyle>
          <a:p xmlns:a="http://schemas.openxmlformats.org/drawingml/2006/main">
            <a:pPr>
              <a:buNone/>
              <a:defRPr sz="1800" b="1">
                <a:solidFill>
                  <a:srgbClr val="52675B"/>
                </a:solidFill>
                <a:latin typeface="Inter"/>
                <a:ea typeface="Inter"/>
                <a:cs typeface="Inter"/>
              </a:defRPr>
            </a:pPr>
            <a:r>
              <a:rPr sz="1800" b="1">
                <a:solidFill>
                  <a:srgbClr val="52675B"/>
                </a:solidFill>
                <a:latin typeface="Inter"/>
                <a:ea typeface="Inter"/>
                <a:cs typeface="Inter"/>
              </a:rPr>
              <a:t>CONDITIONAL DIFFERENCE</a:t>
            </a:r>
          </a:p>
        </p:txBody>
      </p:sp>
      <p:sp>
        <p:nvSpPr>
          <p:cNvPr id="12" name="physician-report">
            <a:extLst xmlns:a="http://schemas.openxmlformats.org/drawingml/2006/main">
              <a:ext uri="{FF2B5EF4-FFF2-40B4-BE49-F238E27FC236}">
                <a16:creationId xmlns:a16="http://schemas.microsoft.com/office/drawing/2014/main" id="{4A436D40-F8CE-4242-93C6-7A4D73366D28}"/>
              </a:ext>
            </a:extLst>
          </p:cNvPr>
          <p:cNvSpPr>
            <a:spLocks xmlns:a="http://schemas.openxmlformats.org/drawingml/2006/main" noGrp="1"/>
          </p:cNvSpPr>
          <p:nvPr/>
        </p:nvSpPr>
        <p:spPr>
          <a:xfrm xmlns:a="http://schemas.openxmlformats.org/drawingml/2006/main">
            <a:off x="12134850" y="363855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2"/>
                </a:solidFill>
                <a:latin typeface="Inter"/>
                <a:ea typeface="Inter"/>
                <a:cs typeface="Inter"/>
              </a:defRPr>
            </a:defPPr>
            <a:lvl1pPr>
              <a:defRPr sz="5700" b="1">
                <a:solidFill>
                  <a:srgbClr val="203D32"/>
                </a:solidFill>
                <a:latin typeface="Inter"/>
                <a:ea typeface="Inter"/>
                <a:cs typeface="Inter"/>
              </a:defRPr>
            </a:lvl1pPr>
            <a:lvl2pPr>
              <a:defRPr sz="5700" b="1">
                <a:solidFill>
                  <a:srgbClr val="203D32"/>
                </a:solidFill>
                <a:latin typeface="Inter"/>
                <a:ea typeface="Inter"/>
                <a:cs typeface="Inter"/>
              </a:defRPr>
            </a:lvl2pPr>
            <a:lvl3pPr>
              <a:defRPr sz="5700" b="1">
                <a:solidFill>
                  <a:srgbClr val="203D32"/>
                </a:solidFill>
                <a:latin typeface="Inter"/>
                <a:ea typeface="Inter"/>
                <a:cs typeface="Inter"/>
              </a:defRPr>
            </a:lvl3pPr>
            <a:lvl4pPr>
              <a:defRPr sz="5700" b="1">
                <a:solidFill>
                  <a:srgbClr val="203D32"/>
                </a:solidFill>
                <a:latin typeface="Inter"/>
                <a:ea typeface="Inter"/>
                <a:cs typeface="Inter"/>
              </a:defRPr>
            </a:lvl4pPr>
            <a:lvl5pPr>
              <a:defRPr sz="5700" b="1">
                <a:solidFill>
                  <a:srgbClr val="203D32"/>
                </a:solidFill>
                <a:latin typeface="Inter"/>
                <a:ea typeface="Inter"/>
                <a:cs typeface="Inter"/>
              </a:defRPr>
            </a:lvl5pPr>
            <a:lvl6pPr>
              <a:defRPr sz="5700" b="1">
                <a:solidFill>
                  <a:srgbClr val="203D32"/>
                </a:solidFill>
                <a:latin typeface="Inter"/>
                <a:ea typeface="Inter"/>
                <a:cs typeface="Inter"/>
              </a:defRPr>
            </a:lvl6pPr>
            <a:lvl7pPr>
              <a:defRPr sz="5700" b="1">
                <a:solidFill>
                  <a:srgbClr val="203D32"/>
                </a:solidFill>
                <a:latin typeface="Inter"/>
                <a:ea typeface="Inter"/>
                <a:cs typeface="Inter"/>
              </a:defRPr>
            </a:lvl7pPr>
            <a:lvl8pPr>
              <a:defRPr sz="5700" b="1">
                <a:solidFill>
                  <a:srgbClr val="203D32"/>
                </a:solidFill>
                <a:latin typeface="Inter"/>
                <a:ea typeface="Inter"/>
                <a:cs typeface="Inter"/>
              </a:defRPr>
            </a:lvl8pPr>
            <a:lvl9pPr>
              <a:defRPr sz="5700" b="1">
                <a:solidFill>
                  <a:srgbClr val="203D32"/>
                </a:solidFill>
                <a:latin typeface="Inter"/>
                <a:ea typeface="Inter"/>
                <a:cs typeface="Inter"/>
              </a:defRPr>
            </a:lvl9pPr>
          </a:lstStyle>
          <a:p xmlns:a="http://schemas.openxmlformats.org/drawingml/2006/main">
            <a:pPr>
              <a:buNone/>
              <a:defRPr sz="5700" b="1">
                <a:solidFill>
                  <a:srgbClr val="203D32"/>
                </a:solidFill>
                <a:latin typeface="Inter"/>
                <a:ea typeface="Inter"/>
                <a:cs typeface="Inter"/>
              </a:defRPr>
            </a:pPr>
            <a:r>
              <a:rPr sz="5700" b="1">
                <a:solidFill>
                  <a:srgbClr val="203D32"/>
                </a:solidFill>
                <a:latin typeface="Inter"/>
                <a:ea typeface="Inter"/>
                <a:cs typeface="Inter"/>
              </a:rPr>
              <a:t>30 min/day</a:t>
            </a:r>
          </a:p>
        </p:txBody>
      </p:sp>
      <p:sp>
        <p:nvSpPr>
          <p:cNvPr id="13" name="report-source">
            <a:extLst xmlns:a="http://schemas.openxmlformats.org/drawingml/2006/main">
              <a:ext uri="{FF2B5EF4-FFF2-40B4-BE49-F238E27FC236}">
                <a16:creationId xmlns:a16="http://schemas.microsoft.com/office/drawing/2014/main" id="{1156E667-7AB2-4E5C-BFA0-71EDBE764554}"/>
              </a:ext>
            </a:extLst>
          </p:cNvPr>
          <p:cNvSpPr>
            <a:spLocks xmlns:a="http://schemas.openxmlformats.org/drawingml/2006/main" noGrp="1"/>
          </p:cNvSpPr>
          <p:nvPr/>
        </p:nvSpPr>
        <p:spPr>
          <a:xfrm xmlns:a="http://schemas.openxmlformats.org/drawingml/2006/main">
            <a:off x="914400" y="53816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6 records × 15 minutes</a:t>
            </a:r>
          </a:p>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Documentation time reported</a:t>
            </a:r>
          </a:p>
          <a:p xmlns:a="http://schemas.openxmlformats.org/drawingml/2006/main">
            <a:pPr>
              <a:buNone/>
              <a:defRPr sz="2100" b="0">
                <a:solidFill>
                  <a:srgbClr val="52675B"/>
                </a:solidFill>
                <a:latin typeface="Inter"/>
                <a:ea typeface="Inter"/>
                <a:cs typeface="Inter"/>
              </a:defRPr>
            </a:pPr>
            <a:r>
              <a:rPr sz="2100" b="0">
                <a:solidFill>
                  <a:srgbClr val="52675B"/>
                </a:solidFill>
                <a:latin typeface="Inter"/>
                <a:ea typeface="Inter"/>
                <a:cs typeface="Inter"/>
              </a:rPr>
              <a:t>by our team</a:t>
            </a:r>
          </a:p>
        </p:txBody>
      </p:sp>
      <p:sp>
        <p:nvSpPr>
          <p:cNvPr id="14" name="value-boundary">
            <a:extLst xmlns:a="http://schemas.openxmlformats.org/drawingml/2006/main">
              <a:ext uri="{FF2B5EF4-FFF2-40B4-BE49-F238E27FC236}">
                <a16:creationId xmlns:a16="http://schemas.microsoft.com/office/drawing/2014/main" id="{22D4F306-A586-46BA-BD08-F3306C211347}"/>
              </a:ext>
            </a:extLst>
          </p:cNvPr>
          <p:cNvSpPr>
            <a:spLocks xmlns:a="http://schemas.openxmlformats.org/drawingml/2006/main" noGrp="1"/>
          </p:cNvSpPr>
          <p:nvPr/>
        </p:nvSpPr>
        <p:spPr>
          <a:xfrm xmlns:a="http://schemas.openxmlformats.org/drawingml/2006/main">
            <a:off x="914400" y="7362825"/>
            <a:ext cx="164592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2"/>
                </a:solidFill>
                <a:latin typeface="Inter"/>
                <a:ea typeface="Inter"/>
                <a:cs typeface="Inter"/>
              </a:defRPr>
            </a:defPPr>
            <a:lvl1pPr>
              <a:defRPr sz="2175" b="1">
                <a:solidFill>
                  <a:srgbClr val="203D32"/>
                </a:solidFill>
                <a:latin typeface="Inter"/>
                <a:ea typeface="Inter"/>
                <a:cs typeface="Inter"/>
              </a:defRPr>
            </a:lvl1pPr>
            <a:lvl2pPr>
              <a:defRPr sz="2175" b="1">
                <a:solidFill>
                  <a:srgbClr val="203D32"/>
                </a:solidFill>
                <a:latin typeface="Inter"/>
                <a:ea typeface="Inter"/>
                <a:cs typeface="Inter"/>
              </a:defRPr>
            </a:lvl2pPr>
            <a:lvl3pPr>
              <a:defRPr sz="2175" b="1">
                <a:solidFill>
                  <a:srgbClr val="203D32"/>
                </a:solidFill>
                <a:latin typeface="Inter"/>
                <a:ea typeface="Inter"/>
                <a:cs typeface="Inter"/>
              </a:defRPr>
            </a:lvl3pPr>
            <a:lvl4pPr>
              <a:defRPr sz="2175" b="1">
                <a:solidFill>
                  <a:srgbClr val="203D32"/>
                </a:solidFill>
                <a:latin typeface="Inter"/>
                <a:ea typeface="Inter"/>
                <a:cs typeface="Inter"/>
              </a:defRPr>
            </a:lvl4pPr>
            <a:lvl5pPr>
              <a:defRPr sz="2175" b="1">
                <a:solidFill>
                  <a:srgbClr val="203D32"/>
                </a:solidFill>
                <a:latin typeface="Inter"/>
                <a:ea typeface="Inter"/>
                <a:cs typeface="Inter"/>
              </a:defRPr>
            </a:lvl5pPr>
            <a:lvl6pPr>
              <a:defRPr sz="2175" b="1">
                <a:solidFill>
                  <a:srgbClr val="203D32"/>
                </a:solidFill>
                <a:latin typeface="Inter"/>
                <a:ea typeface="Inter"/>
                <a:cs typeface="Inter"/>
              </a:defRPr>
            </a:lvl6pPr>
            <a:lvl7pPr>
              <a:defRPr sz="2175" b="1">
                <a:solidFill>
                  <a:srgbClr val="203D32"/>
                </a:solidFill>
                <a:latin typeface="Inter"/>
                <a:ea typeface="Inter"/>
                <a:cs typeface="Inter"/>
              </a:defRPr>
            </a:lvl7pPr>
            <a:lvl8pPr>
              <a:defRPr sz="2175" b="1">
                <a:solidFill>
                  <a:srgbClr val="203D32"/>
                </a:solidFill>
                <a:latin typeface="Inter"/>
                <a:ea typeface="Inter"/>
                <a:cs typeface="Inter"/>
              </a:defRPr>
            </a:lvl8pPr>
            <a:lvl9pPr>
              <a:defRPr sz="2175" b="1">
                <a:solidFill>
                  <a:srgbClr val="203D32"/>
                </a:solidFill>
                <a:latin typeface="Inter"/>
                <a:ea typeface="Inter"/>
                <a:cs typeface="Inter"/>
              </a:defRPr>
            </a:lvl9pPr>
          </a:lstStyle>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Illustrative scenario - not a measured PatientKeeper result.</a:t>
            </a:r>
          </a:p>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The 10-minute assumption includes preparation, doctor review, corrections and overhead.</a:t>
            </a:r>
          </a:p>
          <a:p xmlns:a="http://schemas.openxmlformats.org/drawingml/2006/main">
            <a:pPr>
              <a:buNone/>
              <a:defRPr sz="2175" b="1">
                <a:solidFill>
                  <a:srgbClr val="203D32"/>
                </a:solidFill>
                <a:latin typeface="Inter"/>
                <a:ea typeface="Inter"/>
                <a:cs typeface="Inter"/>
              </a:defRPr>
            </a:pPr>
            <a:r>
              <a:rPr sz="2175" b="1">
                <a:solidFill>
                  <a:srgbClr val="203D32"/>
                </a:solidFill>
                <a:latin typeface="Inter"/>
                <a:ea typeface="Inter"/>
                <a:cs typeface="Inter"/>
              </a:rPr>
              <a:t>Next: measure completion time and rework in a controlled practice pilot.</a:t>
            </a:r>
          </a:p>
        </p:txBody>
      </p:sp>
      <p:sp>
        <p:nvSpPr>
          <p:cNvPr id="16" name="assisted-formula">
            <a:extLst xmlns:a="http://schemas.openxmlformats.org/drawingml/2006/main">
              <a:ext uri="{FF2B5EF4-FFF2-40B4-BE49-F238E27FC236}">
                <a16:creationId xmlns:a16="http://schemas.microsoft.com/office/drawing/2014/main" id="{62AD4A1B-9A6A-4587-B64B-11B676D6CDC6}"/>
              </a:ext>
            </a:extLst>
          </p:cNvPr>
          <p:cNvSpPr>
            <a:spLocks xmlns:a="http://schemas.openxmlformats.org/drawingml/2006/main" noGrp="1"/>
          </p:cNvSpPr>
          <p:nvPr/>
        </p:nvSpPr>
        <p:spPr>
          <a:xfrm xmlns:a="http://schemas.openxmlformats.org/drawingml/2006/main">
            <a:off x="6524625" y="53816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6 records × 10 minutes</a:t>
            </a:r>
          </a:p>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An assumption to be tested</a:t>
            </a:r>
          </a:p>
        </p:txBody>
      </p:sp>
      <p:sp>
        <p:nvSpPr>
          <p:cNvPr id="17" name="conditional-difference">
            <a:extLst xmlns:a="http://schemas.openxmlformats.org/drawingml/2006/main">
              <a:ext uri="{FF2B5EF4-FFF2-40B4-BE49-F238E27FC236}">
                <a16:creationId xmlns:a16="http://schemas.microsoft.com/office/drawing/2014/main" id="{63DBB993-9095-452F-B876-DB472DA95515}"/>
              </a:ext>
            </a:extLst>
          </p:cNvPr>
          <p:cNvSpPr>
            <a:spLocks xmlns:a="http://schemas.openxmlformats.org/drawingml/2006/main" noGrp="1"/>
          </p:cNvSpPr>
          <p:nvPr/>
        </p:nvSpPr>
        <p:spPr>
          <a:xfrm xmlns:a="http://schemas.openxmlformats.org/drawingml/2006/main">
            <a:off x="12134850" y="53816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75B"/>
                </a:solidFill>
                <a:latin typeface="Inter"/>
                <a:ea typeface="Inter"/>
                <a:cs typeface="Inter"/>
              </a:defRPr>
            </a:defPPr>
            <a:lvl1pPr>
              <a:defRPr sz="2100" b="0">
                <a:solidFill>
                  <a:srgbClr val="52675B"/>
                </a:solidFill>
                <a:latin typeface="Inter"/>
                <a:ea typeface="Inter"/>
                <a:cs typeface="Inter"/>
              </a:defRPr>
            </a:lvl1pPr>
            <a:lvl2pPr>
              <a:defRPr sz="2100" b="0">
                <a:solidFill>
                  <a:srgbClr val="52675B"/>
                </a:solidFill>
                <a:latin typeface="Inter"/>
                <a:ea typeface="Inter"/>
                <a:cs typeface="Inter"/>
              </a:defRPr>
            </a:lvl2pPr>
            <a:lvl3pPr>
              <a:defRPr sz="2100" b="0">
                <a:solidFill>
                  <a:srgbClr val="52675B"/>
                </a:solidFill>
                <a:latin typeface="Inter"/>
                <a:ea typeface="Inter"/>
                <a:cs typeface="Inter"/>
              </a:defRPr>
            </a:lvl3pPr>
            <a:lvl4pPr>
              <a:defRPr sz="2100" b="0">
                <a:solidFill>
                  <a:srgbClr val="52675B"/>
                </a:solidFill>
                <a:latin typeface="Inter"/>
                <a:ea typeface="Inter"/>
                <a:cs typeface="Inter"/>
              </a:defRPr>
            </a:lvl4pPr>
            <a:lvl5pPr>
              <a:defRPr sz="2100" b="0">
                <a:solidFill>
                  <a:srgbClr val="52675B"/>
                </a:solidFill>
                <a:latin typeface="Inter"/>
                <a:ea typeface="Inter"/>
                <a:cs typeface="Inter"/>
              </a:defRPr>
            </a:lvl5pPr>
            <a:lvl6pPr>
              <a:defRPr sz="2100" b="0">
                <a:solidFill>
                  <a:srgbClr val="52675B"/>
                </a:solidFill>
                <a:latin typeface="Inter"/>
                <a:ea typeface="Inter"/>
                <a:cs typeface="Inter"/>
              </a:defRPr>
            </a:lvl6pPr>
            <a:lvl7pPr>
              <a:defRPr sz="2100" b="0">
                <a:solidFill>
                  <a:srgbClr val="52675B"/>
                </a:solidFill>
                <a:latin typeface="Inter"/>
                <a:ea typeface="Inter"/>
                <a:cs typeface="Inter"/>
              </a:defRPr>
            </a:lvl7pPr>
            <a:lvl8pPr>
              <a:defRPr sz="2100" b="0">
                <a:solidFill>
                  <a:srgbClr val="52675B"/>
                </a:solidFill>
                <a:latin typeface="Inter"/>
                <a:ea typeface="Inter"/>
                <a:cs typeface="Inter"/>
              </a:defRPr>
            </a:lvl8pPr>
            <a:lvl9pPr>
              <a:defRPr sz="2100" b="0">
                <a:solidFill>
                  <a:srgbClr val="52675B"/>
                </a:solidFill>
                <a:latin typeface="Inter"/>
                <a:ea typeface="Inter"/>
                <a:cs typeface="Inter"/>
              </a:defRPr>
            </a:lvl9pPr>
          </a:lstStyle>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Only if that assisted total</a:t>
            </a:r>
          </a:p>
          <a:p xmlns:a="http://schemas.openxmlformats.org/drawingml/2006/main">
            <a:pPr>
              <a:defRPr sz="2100" b="0">
                <a:solidFill>
                  <a:srgbClr val="52675B"/>
                </a:solidFill>
                <a:latin typeface="Inter"/>
                <a:ea typeface="Inter"/>
                <a:cs typeface="Inter"/>
              </a:defRPr>
            </a:pPr>
            <a:r>
              <a:rPr sz="2100" b="0">
                <a:solidFill>
                  <a:srgbClr val="52675B"/>
                </a:solidFill>
                <a:latin typeface="Inter"/>
                <a:ea typeface="Inter"/>
                <a:cs typeface="Inter"/>
              </a:rPr>
              <a:t>is achieved</a:t>
            </a:r>
          </a:p>
        </p:txBody>
      </p:sp>
    </p:spTree>
    <p:extLst>
      <p:ext uri="{BB962C8B-B14F-4D97-AF65-F5344CB8AC3E}">
        <p14:creationId xmlns:p14="http://schemas.microsoft.com/office/powerpoint/2010/main" val="1689437858"/>
      </p:ext>
    </p:extLst>
  </p:cSld>
</p:sld>
</file>

<file path=ppt/slides/slide9.xml><?xml version="1.0" encoding="utf-8"?>
<p:sld xmlns:p="http://schemas.openxmlformats.org/presentationml/2006/main">
  <p:cSld>
    <p:bg>
      <p:bgPr>
        <a:solidFill xmlns:a="http://schemas.openxmlformats.org/drawingml/2006/main">
          <a:srgbClr val="F3F0E8"/>
        </a:solidFill>
      </p:bgPr>
    </p:bg>
    <p:spTree>
      <p:nvGrpSpPr>
        <p:cNvPr id="1" name=""/>
        <p:cNvGrpSpPr/>
        <p:nvPr/>
      </p:nvGrpSpPr>
      <p:grpSpPr>
        <a:xfrm xmlns:a="http://schemas.openxmlformats.org/drawingml/2006/main"/>
      </p:grpSpPr>
      <p:sp>
        <p:nvSpPr>
          <p:cNvPr id="14" name="neon-title-rule">
            <a:extLst xmlns:a="http://schemas.openxmlformats.org/drawingml/2006/main">
              <a:ext uri="{FF2B5EF4-FFF2-40B4-BE49-F238E27FC236}">
                <a16:creationId xmlns:a16="http://schemas.microsoft.com/office/drawing/2014/main" id="{DE27BEC1-E430-40CD-BB0C-6FB09A7C845A}"/>
              </a:ext>
            </a:extLst>
          </p:cNvPr>
          <p:cNvSpPr>
            <a:spLocks xmlns:a="http://schemas.openxmlformats.org/drawingml/2006/main" noGrp="1"/>
          </p:cNvSpPr>
          <p:nvPr/>
        </p:nvSpPr>
        <p:spPr>
          <a:xfrm xmlns:a="http://schemas.openxmlformats.org/drawingml/2006/main">
            <a:off x="914400" y="552450"/>
            <a:ext cx="609600" cy="38100"/>
          </a:xfrm>
          <a:prstGeom xmlns:a="http://schemas.openxmlformats.org/drawingml/2006/main" prst="rect">
            <a:avLst/>
          </a:prstGeom>
          <a:solidFill xmlns:a="http://schemas.openxmlformats.org/drawingml/2006/main">
            <a:srgbClr val="D9FF43"/>
          </a:solidFill>
          <a:ln xmlns:a="http://schemas.openxmlformats.org/drawingml/2006/main" w="0">
            <a:noFill/>
          </a:ln>
        </p:spPr>
      </p:sp>
      <p:sp>
        <p:nvSpPr>
          <p:cNvPr id="2" name="slide-title">
            <a:extLst xmlns:a="http://schemas.openxmlformats.org/drawingml/2006/main">
              <a:ext uri="{FF2B5EF4-FFF2-40B4-BE49-F238E27FC236}">
                <a16:creationId xmlns:a16="http://schemas.microsoft.com/office/drawing/2014/main" id="{A39885FD-A3E4-4232-8E14-7C8E0064BE3B}"/>
              </a:ext>
            </a:extLst>
          </p:cNvPr>
          <p:cNvSpPr>
            <a:spLocks xmlns:a="http://schemas.openxmlformats.org/drawingml/2006/main" noGrp="1"/>
          </p:cNvSpPr>
          <p:nvPr/>
        </p:nvSpPr>
        <p:spPr>
          <a:xfrm xmlns:a="http://schemas.openxmlformats.org/drawingml/2006/main">
            <a:off x="914400" y="790575"/>
            <a:ext cx="16459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01510"/>
                </a:solidFill>
                <a:latin typeface="Inter"/>
                <a:ea typeface="Inter"/>
                <a:cs typeface="Inter"/>
              </a:defRPr>
            </a:defPPr>
            <a:lvl1pPr>
              <a:defRPr sz="3900" b="1">
                <a:solidFill>
                  <a:srgbClr val="101510"/>
                </a:solidFill>
                <a:latin typeface="Inter"/>
                <a:ea typeface="Inter"/>
                <a:cs typeface="Inter"/>
              </a:defRPr>
            </a:lvl1pPr>
            <a:lvl2pPr>
              <a:defRPr sz="3900" b="1">
                <a:solidFill>
                  <a:srgbClr val="101510"/>
                </a:solidFill>
                <a:latin typeface="Inter"/>
                <a:ea typeface="Inter"/>
                <a:cs typeface="Inter"/>
              </a:defRPr>
            </a:lvl2pPr>
            <a:lvl3pPr>
              <a:defRPr sz="3900" b="1">
                <a:solidFill>
                  <a:srgbClr val="101510"/>
                </a:solidFill>
                <a:latin typeface="Inter"/>
                <a:ea typeface="Inter"/>
                <a:cs typeface="Inter"/>
              </a:defRPr>
            </a:lvl3pPr>
            <a:lvl4pPr>
              <a:defRPr sz="3900" b="1">
                <a:solidFill>
                  <a:srgbClr val="101510"/>
                </a:solidFill>
                <a:latin typeface="Inter"/>
                <a:ea typeface="Inter"/>
                <a:cs typeface="Inter"/>
              </a:defRPr>
            </a:lvl4pPr>
            <a:lvl5pPr>
              <a:defRPr sz="3900" b="1">
                <a:solidFill>
                  <a:srgbClr val="101510"/>
                </a:solidFill>
                <a:latin typeface="Inter"/>
                <a:ea typeface="Inter"/>
                <a:cs typeface="Inter"/>
              </a:defRPr>
            </a:lvl5pPr>
            <a:lvl6pPr>
              <a:defRPr sz="3900" b="1">
                <a:solidFill>
                  <a:srgbClr val="101510"/>
                </a:solidFill>
                <a:latin typeface="Inter"/>
                <a:ea typeface="Inter"/>
                <a:cs typeface="Inter"/>
              </a:defRPr>
            </a:lvl6pPr>
            <a:lvl7pPr>
              <a:defRPr sz="3900" b="1">
                <a:solidFill>
                  <a:srgbClr val="101510"/>
                </a:solidFill>
                <a:latin typeface="Inter"/>
                <a:ea typeface="Inter"/>
                <a:cs typeface="Inter"/>
              </a:defRPr>
            </a:lvl7pPr>
            <a:lvl8pPr>
              <a:defRPr sz="3900" b="1">
                <a:solidFill>
                  <a:srgbClr val="101510"/>
                </a:solidFill>
                <a:latin typeface="Inter"/>
                <a:ea typeface="Inter"/>
                <a:cs typeface="Inter"/>
              </a:defRPr>
            </a:lvl8pPr>
            <a:lvl9pPr>
              <a:defRPr sz="3900" b="1">
                <a:solidFill>
                  <a:srgbClr val="101510"/>
                </a:solidFill>
                <a:latin typeface="Inter"/>
                <a:ea typeface="Inter"/>
                <a:cs typeface="Inter"/>
              </a:defRPr>
            </a:lvl9pPr>
          </a:lstStyle>
          <a:p xmlns:a="http://schemas.openxmlformats.org/drawingml/2006/main">
            <a:pPr>
              <a:buNone/>
              <a:defRPr sz="3900" b="1">
                <a:solidFill>
                  <a:srgbClr val="101510"/>
                </a:solidFill>
                <a:latin typeface="Inter"/>
                <a:ea typeface="Inter"/>
                <a:cs typeface="Inter"/>
              </a:defRPr>
            </a:pPr>
            <a:r>
              <a:rPr sz="3900" b="1">
                <a:solidFill>
                  <a:srgbClr val="101510"/>
                </a:solidFill>
                <a:latin typeface="Inter"/>
                <a:ea typeface="Inter"/>
                <a:cs typeface="Inter"/>
              </a:rPr>
              <a:t>A next step the practice can review</a:t>
            </a:r>
          </a:p>
        </p:txBody>
      </p:sp>
      <p:sp>
        <p:nvSpPr>
          <p:cNvPr id="3" name="slide-subtitle">
            <a:extLst xmlns:a="http://schemas.openxmlformats.org/drawingml/2006/main">
              <a:ext uri="{FF2B5EF4-FFF2-40B4-BE49-F238E27FC236}">
                <a16:creationId xmlns:a16="http://schemas.microsoft.com/office/drawing/2014/main" id="{50B2CCEA-805A-4200-AB6C-57B6393CA542}"/>
              </a:ext>
            </a:extLst>
          </p:cNvPr>
          <p:cNvSpPr>
            <a:spLocks xmlns:a="http://schemas.openxmlformats.org/drawingml/2006/main" noGrp="1"/>
          </p:cNvSpPr>
          <p:nvPr/>
        </p:nvSpPr>
        <p:spPr>
          <a:xfrm xmlns:a="http://schemas.openxmlformats.org/drawingml/2006/main">
            <a:off x="914400" y="1562100"/>
            <a:ext cx="16459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Hypothesis: clearer handoffs and fewer unfinished administrative checks.</a:t>
            </a:r>
          </a:p>
        </p:txBody>
      </p:sp>
      <p:sp>
        <p:nvSpPr>
          <p:cNvPr id="4" name="footer-rule">
            <a:extLst xmlns:a="http://schemas.openxmlformats.org/drawingml/2006/main">
              <a:ext uri="{FF2B5EF4-FFF2-40B4-BE49-F238E27FC236}">
                <a16:creationId xmlns:a16="http://schemas.microsoft.com/office/drawing/2014/main" id="{CCB9AB65-3A8E-425F-9EA2-BE47A4C86E69}"/>
              </a:ext>
            </a:extLst>
          </p:cNvPr>
          <p:cNvSpPr>
            <a:spLocks xmlns:a="http://schemas.openxmlformats.org/drawingml/2006/main" noGrp="1"/>
          </p:cNvSpPr>
          <p:nvPr/>
        </p:nvSpPr>
        <p:spPr>
          <a:xfrm xmlns:a="http://schemas.openxmlformats.org/drawingml/2006/main">
            <a:off x="914400" y="9458325"/>
            <a:ext cx="16459200" cy="9525"/>
          </a:xfrm>
          <a:prstGeom xmlns:a="http://schemas.openxmlformats.org/drawingml/2006/main" prst="rect">
            <a:avLst/>
          </a:prstGeom>
          <a:solidFill xmlns:a="http://schemas.openxmlformats.org/drawingml/2006/main">
            <a:srgbClr val="C5CFB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D6121B8-8308-44E5-9F91-FB1DF3AE62CA}"/>
              </a:ext>
            </a:extLst>
          </p:cNvPr>
          <p:cNvPicPr>
            <a:picLocks xmlns:a="http://schemas.openxmlformats.org/drawingml/2006/main" noChangeAspect="1"/>
          </p:cNvPicPr>
          <p:nvPr/>
        </p:nvPicPr>
        <p:blipFill>
          <a:blip xmlns:r="http://schemas.openxmlformats.org/officeDocument/2006/relationships" xmlns:a="http://schemas.openxmlformats.org/drawingml/2006/main" r:embed="Rc05be8da79d3479b"/>
          <a:stretch xmlns:a="http://schemas.openxmlformats.org/drawingml/2006/main"/>
        </p:blipFill>
        <p:spPr>
          <a:xfrm xmlns:a="http://schemas.openxmlformats.org/drawingml/2006/main">
            <a:off x="921696" y="9648825"/>
            <a:ext cx="1699909" cy="342900"/>
          </a:xfrm>
          <a:prstGeom xmlns:a="http://schemas.openxmlformats.org/drawingml/2006/main" prst="rect">
            <a:avLst/>
          </a:prstGeom>
        </p:spPr>
      </p:pic>
      <p:sp>
        <p:nvSpPr>
          <p:cNvPr id="6" name="page-number">
            <a:extLst xmlns:a="http://schemas.openxmlformats.org/drawingml/2006/main">
              <a:ext uri="{FF2B5EF4-FFF2-40B4-BE49-F238E27FC236}">
                <a16:creationId xmlns:a16="http://schemas.microsoft.com/office/drawing/2014/main" id="{35C2F860-7483-4C0F-B1D4-6271915B41CA}"/>
              </a:ext>
            </a:extLst>
          </p:cNvPr>
          <p:cNvSpPr>
            <a:spLocks xmlns:a="http://schemas.openxmlformats.org/drawingml/2006/main" noGrp="1"/>
          </p:cNvSpPr>
          <p:nvPr/>
        </p:nvSpPr>
        <p:spPr>
          <a:xfrm xmlns:a="http://schemas.openxmlformats.org/drawingml/2006/main">
            <a:off x="16706850" y="970597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75B"/>
                </a:solidFill>
                <a:latin typeface="Inter"/>
                <a:ea typeface="Inter"/>
                <a:cs typeface="Inter"/>
              </a:defRPr>
            </a:defPPr>
            <a:lvl1pPr>
              <a:defRPr sz="1500" b="0">
                <a:solidFill>
                  <a:srgbClr val="52675B"/>
                </a:solidFill>
                <a:latin typeface="Inter"/>
                <a:ea typeface="Inter"/>
                <a:cs typeface="Inter"/>
              </a:defRPr>
            </a:lvl1pPr>
            <a:lvl2pPr>
              <a:defRPr sz="1500" b="0">
                <a:solidFill>
                  <a:srgbClr val="52675B"/>
                </a:solidFill>
                <a:latin typeface="Inter"/>
                <a:ea typeface="Inter"/>
                <a:cs typeface="Inter"/>
              </a:defRPr>
            </a:lvl2pPr>
            <a:lvl3pPr>
              <a:defRPr sz="1500" b="0">
                <a:solidFill>
                  <a:srgbClr val="52675B"/>
                </a:solidFill>
                <a:latin typeface="Inter"/>
                <a:ea typeface="Inter"/>
                <a:cs typeface="Inter"/>
              </a:defRPr>
            </a:lvl3pPr>
            <a:lvl4pPr>
              <a:defRPr sz="1500" b="0">
                <a:solidFill>
                  <a:srgbClr val="52675B"/>
                </a:solidFill>
                <a:latin typeface="Inter"/>
                <a:ea typeface="Inter"/>
                <a:cs typeface="Inter"/>
              </a:defRPr>
            </a:lvl4pPr>
            <a:lvl5pPr>
              <a:defRPr sz="1500" b="0">
                <a:solidFill>
                  <a:srgbClr val="52675B"/>
                </a:solidFill>
                <a:latin typeface="Inter"/>
                <a:ea typeface="Inter"/>
                <a:cs typeface="Inter"/>
              </a:defRPr>
            </a:lvl5pPr>
            <a:lvl6pPr>
              <a:defRPr sz="1500" b="0">
                <a:solidFill>
                  <a:srgbClr val="52675B"/>
                </a:solidFill>
                <a:latin typeface="Inter"/>
                <a:ea typeface="Inter"/>
                <a:cs typeface="Inter"/>
              </a:defRPr>
            </a:lvl6pPr>
            <a:lvl7pPr>
              <a:defRPr sz="1500" b="0">
                <a:solidFill>
                  <a:srgbClr val="52675B"/>
                </a:solidFill>
                <a:latin typeface="Inter"/>
                <a:ea typeface="Inter"/>
                <a:cs typeface="Inter"/>
              </a:defRPr>
            </a:lvl7pPr>
            <a:lvl8pPr>
              <a:defRPr sz="1500" b="0">
                <a:solidFill>
                  <a:srgbClr val="52675B"/>
                </a:solidFill>
                <a:latin typeface="Inter"/>
                <a:ea typeface="Inter"/>
                <a:cs typeface="Inter"/>
              </a:defRPr>
            </a:lvl8pPr>
            <a:lvl9pPr>
              <a:defRPr sz="1500" b="0">
                <a:solidFill>
                  <a:srgbClr val="52675B"/>
                </a:solidFill>
                <a:latin typeface="Inter"/>
                <a:ea typeface="Inter"/>
                <a:cs typeface="Inter"/>
              </a:defRPr>
            </a:lvl9pPr>
          </a:lstStyle>
          <a:p xmlns:a="http://schemas.openxmlformats.org/drawingml/2006/main">
            <a:pPr>
              <a:buNone/>
              <a:defRPr sz="1500" b="0">
                <a:solidFill>
                  <a:srgbClr val="52675B"/>
                </a:solidFill>
                <a:latin typeface="Inter"/>
                <a:ea typeface="Inter"/>
                <a:cs typeface="Inter"/>
              </a:defRPr>
            </a:pPr>
            <a:r>
              <a:rPr sz="1500" b="0">
                <a:solidFill>
                  <a:srgbClr val="52675B"/>
                </a:solidFill>
                <a:latin typeface="Inter"/>
                <a:ea typeface="Inter"/>
                <a:cs typeface="Inter"/>
              </a:rPr>
              <a:t>09</a:t>
            </a:r>
          </a:p>
        </p:txBody>
      </p:sp>
      <p:sp>
        <p:nvSpPr>
          <p:cNvPr id="7" name="value-hypothesis">
            <a:extLst xmlns:a="http://schemas.openxmlformats.org/drawingml/2006/main">
              <a:ext uri="{FF2B5EF4-FFF2-40B4-BE49-F238E27FC236}">
                <a16:creationId xmlns:a16="http://schemas.microsoft.com/office/drawing/2014/main" id="{0C11F266-E77D-4EF6-9887-B232005FB779}"/>
              </a:ext>
            </a:extLst>
          </p:cNvPr>
          <p:cNvSpPr>
            <a:spLocks xmlns:a="http://schemas.openxmlformats.org/drawingml/2006/main" noGrp="1"/>
          </p:cNvSpPr>
          <p:nvPr/>
        </p:nvSpPr>
        <p:spPr>
          <a:xfrm xmlns:a="http://schemas.openxmlformats.org/drawingml/2006/main">
            <a:off x="914400" y="2724150"/>
            <a:ext cx="164592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03D32"/>
                </a:solidFill>
                <a:latin typeface="Inter"/>
                <a:ea typeface="Inter"/>
                <a:cs typeface="Inter"/>
              </a:defRPr>
            </a:defPPr>
            <a:lvl1pPr>
              <a:defRPr sz="3150" b="1">
                <a:solidFill>
                  <a:srgbClr val="203D32"/>
                </a:solidFill>
                <a:latin typeface="Inter"/>
                <a:ea typeface="Inter"/>
                <a:cs typeface="Inter"/>
              </a:defRPr>
            </a:lvl1pPr>
            <a:lvl2pPr>
              <a:defRPr sz="3150" b="1">
                <a:solidFill>
                  <a:srgbClr val="203D32"/>
                </a:solidFill>
                <a:latin typeface="Inter"/>
                <a:ea typeface="Inter"/>
                <a:cs typeface="Inter"/>
              </a:defRPr>
            </a:lvl2pPr>
            <a:lvl3pPr>
              <a:defRPr sz="3150" b="1">
                <a:solidFill>
                  <a:srgbClr val="203D32"/>
                </a:solidFill>
                <a:latin typeface="Inter"/>
                <a:ea typeface="Inter"/>
                <a:cs typeface="Inter"/>
              </a:defRPr>
            </a:lvl3pPr>
            <a:lvl4pPr>
              <a:defRPr sz="3150" b="1">
                <a:solidFill>
                  <a:srgbClr val="203D32"/>
                </a:solidFill>
                <a:latin typeface="Inter"/>
                <a:ea typeface="Inter"/>
                <a:cs typeface="Inter"/>
              </a:defRPr>
            </a:lvl4pPr>
            <a:lvl5pPr>
              <a:defRPr sz="3150" b="1">
                <a:solidFill>
                  <a:srgbClr val="203D32"/>
                </a:solidFill>
                <a:latin typeface="Inter"/>
                <a:ea typeface="Inter"/>
                <a:cs typeface="Inter"/>
              </a:defRPr>
            </a:lvl5pPr>
            <a:lvl6pPr>
              <a:defRPr sz="3150" b="1">
                <a:solidFill>
                  <a:srgbClr val="203D32"/>
                </a:solidFill>
                <a:latin typeface="Inter"/>
                <a:ea typeface="Inter"/>
                <a:cs typeface="Inter"/>
              </a:defRPr>
            </a:lvl6pPr>
            <a:lvl7pPr>
              <a:defRPr sz="3150" b="1">
                <a:solidFill>
                  <a:srgbClr val="203D32"/>
                </a:solidFill>
                <a:latin typeface="Inter"/>
                <a:ea typeface="Inter"/>
                <a:cs typeface="Inter"/>
              </a:defRPr>
            </a:lvl7pPr>
            <a:lvl8pPr>
              <a:defRPr sz="3150" b="1">
                <a:solidFill>
                  <a:srgbClr val="203D32"/>
                </a:solidFill>
                <a:latin typeface="Inter"/>
                <a:ea typeface="Inter"/>
                <a:cs typeface="Inter"/>
              </a:defRPr>
            </a:lvl8pPr>
            <a:lvl9pPr>
              <a:defRPr sz="3150" b="1">
                <a:solidFill>
                  <a:srgbClr val="203D32"/>
                </a:solidFill>
                <a:latin typeface="Inter"/>
                <a:ea typeface="Inter"/>
                <a:cs typeface="Inter"/>
              </a:defRPr>
            </a:lvl9pPr>
          </a:lstStyle>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The doctor retains control.</a:t>
            </a:r>
          </a:p>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The practice receives a source-linked draft</a:t>
            </a:r>
          </a:p>
          <a:p xmlns:a="http://schemas.openxmlformats.org/drawingml/2006/main">
            <a:pPr>
              <a:buNone/>
              <a:defRPr sz="3150" b="1">
                <a:solidFill>
                  <a:srgbClr val="203D32"/>
                </a:solidFill>
                <a:latin typeface="Inter"/>
                <a:ea typeface="Inter"/>
                <a:cs typeface="Inter"/>
              </a:defRPr>
            </a:pPr>
            <a:r>
              <a:rPr sz="3150" b="1">
                <a:solidFill>
                  <a:srgbClr val="203D32"/>
                </a:solidFill>
                <a:latin typeface="Inter"/>
                <a:ea typeface="Inter"/>
                <a:cs typeface="Inter"/>
              </a:rPr>
              <a:t>and visible pending work.</a:t>
            </a:r>
          </a:p>
        </p:txBody>
      </p:sp>
      <p:sp>
        <p:nvSpPr>
          <p:cNvPr id="8" name="technical-evidence">
            <a:extLst xmlns:a="http://schemas.openxmlformats.org/drawingml/2006/main">
              <a:ext uri="{FF2B5EF4-FFF2-40B4-BE49-F238E27FC236}">
                <a16:creationId xmlns:a16="http://schemas.microsoft.com/office/drawing/2014/main" id="{2A16A8C2-3414-4521-9E88-B370C7FB4332}"/>
              </a:ext>
            </a:extLst>
          </p:cNvPr>
          <p:cNvSpPr>
            <a:spLocks xmlns:a="http://schemas.openxmlformats.org/drawingml/2006/main" noGrp="1"/>
          </p:cNvSpPr>
          <p:nvPr/>
        </p:nvSpPr>
        <p:spPr>
          <a:xfrm xmlns:a="http://schemas.openxmlformats.org/drawingml/2006/main">
            <a:off x="914400" y="4676775"/>
            <a:ext cx="164592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2675B"/>
                </a:solidFill>
                <a:latin typeface="Inter"/>
                <a:ea typeface="Inter"/>
                <a:cs typeface="Inter"/>
              </a:defRPr>
            </a:defPPr>
            <a:lvl1pPr>
              <a:defRPr sz="2175" b="0">
                <a:solidFill>
                  <a:srgbClr val="52675B"/>
                </a:solidFill>
                <a:latin typeface="Inter"/>
                <a:ea typeface="Inter"/>
                <a:cs typeface="Inter"/>
              </a:defRPr>
            </a:lvl1pPr>
            <a:lvl2pPr>
              <a:defRPr sz="2175" b="0">
                <a:solidFill>
                  <a:srgbClr val="52675B"/>
                </a:solidFill>
                <a:latin typeface="Inter"/>
                <a:ea typeface="Inter"/>
                <a:cs typeface="Inter"/>
              </a:defRPr>
            </a:lvl2pPr>
            <a:lvl3pPr>
              <a:defRPr sz="2175" b="0">
                <a:solidFill>
                  <a:srgbClr val="52675B"/>
                </a:solidFill>
                <a:latin typeface="Inter"/>
                <a:ea typeface="Inter"/>
                <a:cs typeface="Inter"/>
              </a:defRPr>
            </a:lvl3pPr>
            <a:lvl4pPr>
              <a:defRPr sz="2175" b="0">
                <a:solidFill>
                  <a:srgbClr val="52675B"/>
                </a:solidFill>
                <a:latin typeface="Inter"/>
                <a:ea typeface="Inter"/>
                <a:cs typeface="Inter"/>
              </a:defRPr>
            </a:lvl4pPr>
            <a:lvl5pPr>
              <a:defRPr sz="2175" b="0">
                <a:solidFill>
                  <a:srgbClr val="52675B"/>
                </a:solidFill>
                <a:latin typeface="Inter"/>
                <a:ea typeface="Inter"/>
                <a:cs typeface="Inter"/>
              </a:defRPr>
            </a:lvl5pPr>
            <a:lvl6pPr>
              <a:defRPr sz="2175" b="0">
                <a:solidFill>
                  <a:srgbClr val="52675B"/>
                </a:solidFill>
                <a:latin typeface="Inter"/>
                <a:ea typeface="Inter"/>
                <a:cs typeface="Inter"/>
              </a:defRPr>
            </a:lvl6pPr>
            <a:lvl7pPr>
              <a:defRPr sz="2175" b="0">
                <a:solidFill>
                  <a:srgbClr val="52675B"/>
                </a:solidFill>
                <a:latin typeface="Inter"/>
                <a:ea typeface="Inter"/>
                <a:cs typeface="Inter"/>
              </a:defRPr>
            </a:lvl7pPr>
            <a:lvl8pPr>
              <a:defRPr sz="2175" b="0">
                <a:solidFill>
                  <a:srgbClr val="52675B"/>
                </a:solidFill>
                <a:latin typeface="Inter"/>
                <a:ea typeface="Inter"/>
                <a:cs typeface="Inter"/>
              </a:defRPr>
            </a:lvl8pPr>
            <a:lvl9pPr>
              <a:defRPr sz="2175" b="0">
                <a:solidFill>
                  <a:srgbClr val="52675B"/>
                </a:solidFill>
                <a:latin typeface="Inter"/>
                <a:ea typeface="Inter"/>
                <a:cs typeface="Inter"/>
              </a:defRPr>
            </a:lvl9pPr>
          </a:lstStyle>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Evidence: local CPU transcription, synthetic state persistence and the recorded Gemma/Evolus pilot.</a:t>
            </a:r>
          </a:p>
          <a:p xmlns:a="http://schemas.openxmlformats.org/drawingml/2006/main">
            <a:pPr>
              <a:buNone/>
              <a:defRPr sz="2175" b="0">
                <a:solidFill>
                  <a:srgbClr val="52675B"/>
                </a:solidFill>
                <a:latin typeface="Inter"/>
                <a:ea typeface="Inter"/>
                <a:cs typeface="Inter"/>
              </a:defRPr>
            </a:pPr>
            <a:r>
              <a:rPr sz="2175" b="0">
                <a:solidFill>
                  <a:srgbClr val="52675B"/>
                </a:solidFill>
                <a:latin typeface="Inter"/>
                <a:ea typeface="Inter"/>
                <a:cs typeface="Inter"/>
              </a:rPr>
              <a:t>Operational savings and clinical outcomes remain unmeasured.</a:t>
            </a:r>
          </a:p>
        </p:txBody>
      </p:sp>
      <p:sp>
        <p:nvSpPr>
          <p:cNvPr id="9" name="demo-label">
            <a:extLst xmlns:a="http://schemas.openxmlformats.org/drawingml/2006/main">
              <a:ext uri="{FF2B5EF4-FFF2-40B4-BE49-F238E27FC236}">
                <a16:creationId xmlns:a16="http://schemas.microsoft.com/office/drawing/2014/main" id="{F675FF5D-E29D-4D8A-9374-AFF34980928D}"/>
              </a:ext>
            </a:extLst>
          </p:cNvPr>
          <p:cNvSpPr>
            <a:spLocks xmlns:a="http://schemas.openxmlformats.org/drawingml/2006/main" noGrp="1"/>
          </p:cNvSpPr>
          <p:nvPr/>
        </p:nvSpPr>
        <p:spPr>
          <a:xfrm xmlns:a="http://schemas.openxmlformats.org/drawingml/2006/main">
            <a:off x="914400" y="608647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vl1pPr>
              <a:defRPr sz="1500" b="1">
                <a:solidFill>
                  <a:srgbClr val="52675B"/>
                </a:solidFill>
                <a:latin typeface="Inter"/>
                <a:ea typeface="Inter"/>
                <a:cs typeface="Inter"/>
              </a:defRPr>
            </a:lvl1pPr>
            <a:lvl2pPr>
              <a:defRPr sz="1500" b="1">
                <a:solidFill>
                  <a:srgbClr val="52675B"/>
                </a:solidFill>
                <a:latin typeface="Inter"/>
                <a:ea typeface="Inter"/>
                <a:cs typeface="Inter"/>
              </a:defRPr>
            </a:lvl2pPr>
            <a:lvl3pPr>
              <a:defRPr sz="1500" b="1">
                <a:solidFill>
                  <a:srgbClr val="52675B"/>
                </a:solidFill>
                <a:latin typeface="Inter"/>
                <a:ea typeface="Inter"/>
                <a:cs typeface="Inter"/>
              </a:defRPr>
            </a:lvl3pPr>
            <a:lvl4pPr>
              <a:defRPr sz="1500" b="1">
                <a:solidFill>
                  <a:srgbClr val="52675B"/>
                </a:solidFill>
                <a:latin typeface="Inter"/>
                <a:ea typeface="Inter"/>
                <a:cs typeface="Inter"/>
              </a:defRPr>
            </a:lvl4pPr>
            <a:lvl5pPr>
              <a:defRPr sz="1500" b="1">
                <a:solidFill>
                  <a:srgbClr val="52675B"/>
                </a:solidFill>
                <a:latin typeface="Inter"/>
                <a:ea typeface="Inter"/>
                <a:cs typeface="Inter"/>
              </a:defRPr>
            </a:lvl5pPr>
            <a:lvl6pPr>
              <a:defRPr sz="1500" b="1">
                <a:solidFill>
                  <a:srgbClr val="52675B"/>
                </a:solidFill>
                <a:latin typeface="Inter"/>
                <a:ea typeface="Inter"/>
                <a:cs typeface="Inter"/>
              </a:defRPr>
            </a:lvl6pPr>
            <a:lvl7pPr>
              <a:defRPr sz="1500" b="1">
                <a:solidFill>
                  <a:srgbClr val="52675B"/>
                </a:solidFill>
                <a:latin typeface="Inter"/>
                <a:ea typeface="Inter"/>
                <a:cs typeface="Inter"/>
              </a:defRPr>
            </a:lvl7pPr>
            <a:lvl8pPr>
              <a:defRPr sz="1500" b="1">
                <a:solidFill>
                  <a:srgbClr val="52675B"/>
                </a:solidFill>
                <a:latin typeface="Inter"/>
                <a:ea typeface="Inter"/>
                <a:cs typeface="Inter"/>
              </a:defRPr>
            </a:lvl8pPr>
            <a:lvl9pPr>
              <a:defRPr sz="1500" b="1">
                <a:solidFill>
                  <a:srgbClr val="52675B"/>
                </a:solidFill>
                <a:latin typeface="Inter"/>
                <a:ea typeface="Inter"/>
                <a:cs typeface="Inter"/>
              </a:defRPr>
            </a:lvl9pPr>
          </a:lstStyle>
          <a:p xmlns:a="http://schemas.openxmlformats.org/drawingml/2006/main">
            <a:pPr>
              <a:buNone/>
              <a:defRPr sz="1500" b="1">
                <a:solidFill>
                  <a:srgbClr val="52675B"/>
                </a:solidFill>
                <a:latin typeface="Inter"/>
                <a:ea typeface="Inter"/>
                <a:cs typeface="Inter"/>
              </a:defRPr>
            </a:pPr>
            <a:r>
              <a:rPr sz="1500" b="1">
                <a:solidFill>
                  <a:srgbClr val="52675B"/>
                </a:solidFill>
                <a:latin typeface="Inter"/>
                <a:ea typeface="Inter"/>
                <a:cs typeface="Inter"/>
              </a:rPr>
              <a:t>PUBLIC DEMO · RECORDED EVIDENCE, NO LIVE INFERENCE</a:t>
            </a:r>
          </a:p>
        </p:txBody>
      </p:sp>
      <p:sp>
        <p:nvSpPr>
          <p:cNvPr id="10" name="demo-link">
            <a:extLst xmlns:a="http://schemas.openxmlformats.org/drawingml/2006/main">
              <a:ext uri="{FF2B5EF4-FFF2-40B4-BE49-F238E27FC236}">
                <a16:creationId xmlns:a16="http://schemas.microsoft.com/office/drawing/2014/main" id="{58DAE6BA-7BF1-4DD3-816F-DAB334806132}"/>
              </a:ext>
            </a:extLst>
          </p:cNvPr>
          <p:cNvSpPr>
            <a:spLocks xmlns:a="http://schemas.openxmlformats.org/drawingml/2006/main" noGrp="1"/>
          </p:cNvSpPr>
          <p:nvPr/>
        </p:nvSpPr>
        <p:spPr>
          <a:xfrm xmlns:a="http://schemas.openxmlformats.org/drawingml/2006/main">
            <a:off x="914400" y="656272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e89f2bf6cd6b46b4"/>
              </a:rPr>
              <a:t>athosfif.github.io/patientkeeper-retorno-act-iii/</a:t>
            </a:r>
          </a:p>
        </p:txBody>
      </p:sp>
      <p:sp>
        <p:nvSpPr>
          <p:cNvPr id="11" name="repository-label">
            <a:extLst xmlns:a="http://schemas.openxmlformats.org/drawingml/2006/main">
              <a:ext uri="{FF2B5EF4-FFF2-40B4-BE49-F238E27FC236}">
                <a16:creationId xmlns:a16="http://schemas.microsoft.com/office/drawing/2014/main" id="{2F36E4AD-4C06-4AB8-8E33-3C062D30C569}"/>
              </a:ext>
            </a:extLst>
          </p:cNvPr>
          <p:cNvSpPr>
            <a:spLocks xmlns:a="http://schemas.openxmlformats.org/drawingml/2006/main" noGrp="1"/>
          </p:cNvSpPr>
          <p:nvPr/>
        </p:nvSpPr>
        <p:spPr>
          <a:xfrm xmlns:a="http://schemas.openxmlformats.org/drawingml/2006/main">
            <a:off x="914400" y="7591425"/>
            <a:ext cx="16459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52675B"/>
                </a:solidFill>
                <a:latin typeface="Inter"/>
                <a:ea typeface="Inter"/>
                <a:cs typeface="Inter"/>
              </a:defRPr>
            </a:defPPr>
            <a:lvl1pPr>
              <a:defRPr sz="1500" b="1">
                <a:solidFill>
                  <a:srgbClr val="52675B"/>
                </a:solidFill>
                <a:latin typeface="Inter"/>
                <a:ea typeface="Inter"/>
                <a:cs typeface="Inter"/>
              </a:defRPr>
            </a:lvl1pPr>
            <a:lvl2pPr>
              <a:defRPr sz="1500" b="1">
                <a:solidFill>
                  <a:srgbClr val="52675B"/>
                </a:solidFill>
                <a:latin typeface="Inter"/>
                <a:ea typeface="Inter"/>
                <a:cs typeface="Inter"/>
              </a:defRPr>
            </a:lvl2pPr>
            <a:lvl3pPr>
              <a:defRPr sz="1500" b="1">
                <a:solidFill>
                  <a:srgbClr val="52675B"/>
                </a:solidFill>
                <a:latin typeface="Inter"/>
                <a:ea typeface="Inter"/>
                <a:cs typeface="Inter"/>
              </a:defRPr>
            </a:lvl3pPr>
            <a:lvl4pPr>
              <a:defRPr sz="1500" b="1">
                <a:solidFill>
                  <a:srgbClr val="52675B"/>
                </a:solidFill>
                <a:latin typeface="Inter"/>
                <a:ea typeface="Inter"/>
                <a:cs typeface="Inter"/>
              </a:defRPr>
            </a:lvl4pPr>
            <a:lvl5pPr>
              <a:defRPr sz="1500" b="1">
                <a:solidFill>
                  <a:srgbClr val="52675B"/>
                </a:solidFill>
                <a:latin typeface="Inter"/>
                <a:ea typeface="Inter"/>
                <a:cs typeface="Inter"/>
              </a:defRPr>
            </a:lvl5pPr>
            <a:lvl6pPr>
              <a:defRPr sz="1500" b="1">
                <a:solidFill>
                  <a:srgbClr val="52675B"/>
                </a:solidFill>
                <a:latin typeface="Inter"/>
                <a:ea typeface="Inter"/>
                <a:cs typeface="Inter"/>
              </a:defRPr>
            </a:lvl6pPr>
            <a:lvl7pPr>
              <a:defRPr sz="1500" b="1">
                <a:solidFill>
                  <a:srgbClr val="52675B"/>
                </a:solidFill>
                <a:latin typeface="Inter"/>
                <a:ea typeface="Inter"/>
                <a:cs typeface="Inter"/>
              </a:defRPr>
            </a:lvl7pPr>
            <a:lvl8pPr>
              <a:defRPr sz="1500" b="1">
                <a:solidFill>
                  <a:srgbClr val="52675B"/>
                </a:solidFill>
                <a:latin typeface="Inter"/>
                <a:ea typeface="Inter"/>
                <a:cs typeface="Inter"/>
              </a:defRPr>
            </a:lvl8pPr>
            <a:lvl9pPr>
              <a:defRPr sz="1500" b="1">
                <a:solidFill>
                  <a:srgbClr val="52675B"/>
                </a:solidFill>
                <a:latin typeface="Inter"/>
                <a:ea typeface="Inter"/>
                <a:cs typeface="Inter"/>
              </a:defRPr>
            </a:lvl9pPr>
          </a:lstStyle>
          <a:p xmlns:a="http://schemas.openxmlformats.org/drawingml/2006/main">
            <a:pPr>
              <a:buNone/>
              <a:defRPr sz="1500" b="1">
                <a:solidFill>
                  <a:srgbClr val="52675B"/>
                </a:solidFill>
                <a:latin typeface="Inter"/>
                <a:ea typeface="Inter"/>
                <a:cs typeface="Inter"/>
              </a:defRPr>
            </a:pPr>
            <a:r>
              <a:rPr sz="1500" b="1">
                <a:solidFill>
                  <a:srgbClr val="52675B"/>
                </a:solidFill>
                <a:latin typeface="Inter"/>
                <a:ea typeface="Inter"/>
                <a:cs typeface="Inter"/>
              </a:rPr>
              <a:t>SOURCE CODE</a:t>
            </a:r>
          </a:p>
        </p:txBody>
      </p:sp>
      <p:sp>
        <p:nvSpPr>
          <p:cNvPr id="12" name="repository-link">
            <a:extLst xmlns:a="http://schemas.openxmlformats.org/drawingml/2006/main">
              <a:ext uri="{FF2B5EF4-FFF2-40B4-BE49-F238E27FC236}">
                <a16:creationId xmlns:a16="http://schemas.microsoft.com/office/drawing/2014/main" id="{A9DA6AE9-DDCD-4478-B2CD-CDE040AC5BEB}"/>
              </a:ext>
            </a:extLst>
          </p:cNvPr>
          <p:cNvSpPr>
            <a:spLocks xmlns:a="http://schemas.openxmlformats.org/drawingml/2006/main" noGrp="1"/>
          </p:cNvSpPr>
          <p:nvPr/>
        </p:nvSpPr>
        <p:spPr>
          <a:xfrm xmlns:a="http://schemas.openxmlformats.org/drawingml/2006/main">
            <a:off x="914400" y="8067675"/>
            <a:ext cx="1645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203D32"/>
                </a:solidFill>
                <a:latin typeface="Inter"/>
                <a:ea typeface="Inter"/>
                <a:cs typeface="Inter"/>
              </a:defRPr>
            </a:defPPr>
            <a:lvl1pPr>
              <a:defRPr sz="2625" b="0">
                <a:solidFill>
                  <a:srgbClr val="203D32"/>
                </a:solidFill>
                <a:latin typeface="Inter"/>
                <a:ea typeface="Inter"/>
                <a:cs typeface="Inter"/>
              </a:defRPr>
            </a:lvl1pPr>
            <a:lvl2pPr>
              <a:defRPr sz="2625" b="0">
                <a:solidFill>
                  <a:srgbClr val="203D32"/>
                </a:solidFill>
                <a:latin typeface="Inter"/>
                <a:ea typeface="Inter"/>
                <a:cs typeface="Inter"/>
              </a:defRPr>
            </a:lvl2pPr>
            <a:lvl3pPr>
              <a:defRPr sz="2625" b="0">
                <a:solidFill>
                  <a:srgbClr val="203D32"/>
                </a:solidFill>
                <a:latin typeface="Inter"/>
                <a:ea typeface="Inter"/>
                <a:cs typeface="Inter"/>
              </a:defRPr>
            </a:lvl3pPr>
            <a:lvl4pPr>
              <a:defRPr sz="2625" b="0">
                <a:solidFill>
                  <a:srgbClr val="203D32"/>
                </a:solidFill>
                <a:latin typeface="Inter"/>
                <a:ea typeface="Inter"/>
                <a:cs typeface="Inter"/>
              </a:defRPr>
            </a:lvl4pPr>
            <a:lvl5pPr>
              <a:defRPr sz="2625" b="0">
                <a:solidFill>
                  <a:srgbClr val="203D32"/>
                </a:solidFill>
                <a:latin typeface="Inter"/>
                <a:ea typeface="Inter"/>
                <a:cs typeface="Inter"/>
              </a:defRPr>
            </a:lvl5pPr>
            <a:lvl6pPr>
              <a:defRPr sz="2625" b="0">
                <a:solidFill>
                  <a:srgbClr val="203D32"/>
                </a:solidFill>
                <a:latin typeface="Inter"/>
                <a:ea typeface="Inter"/>
                <a:cs typeface="Inter"/>
              </a:defRPr>
            </a:lvl6pPr>
            <a:lvl7pPr>
              <a:defRPr sz="2625" b="0">
                <a:solidFill>
                  <a:srgbClr val="203D32"/>
                </a:solidFill>
                <a:latin typeface="Inter"/>
                <a:ea typeface="Inter"/>
                <a:cs typeface="Inter"/>
              </a:defRPr>
            </a:lvl7pPr>
            <a:lvl8pPr>
              <a:defRPr sz="2625" b="0">
                <a:solidFill>
                  <a:srgbClr val="203D32"/>
                </a:solidFill>
                <a:latin typeface="Inter"/>
                <a:ea typeface="Inter"/>
                <a:cs typeface="Inter"/>
              </a:defRPr>
            </a:lvl8pPr>
            <a:lvl9pPr>
              <a:defRPr sz="2625" b="0">
                <a:solidFill>
                  <a:srgbClr val="203D32"/>
                </a:solidFill>
                <a:latin typeface="Inter"/>
                <a:ea typeface="Inter"/>
                <a:cs typeface="Inter"/>
              </a:defRPr>
            </a:lvl9pPr>
          </a:lstStyle>
          <a:p xmlns:a="http://schemas.openxmlformats.org/drawingml/2006/main">
            <a:pPr>
              <a:buNone/>
              <a:defRPr sz="2625" b="0">
                <a:solidFill>
                  <a:srgbClr val="203D32"/>
                </a:solidFill>
                <a:latin typeface="Inter"/>
                <a:ea typeface="Inter"/>
                <a:cs typeface="Inter"/>
              </a:defRPr>
            </a:pPr>
            <a:r>
              <a:rPr sz="2625" b="0" u="sng">
                <a:solidFill>
                  <a:srgbClr val="203D32"/>
                </a:solidFill>
                <a:latin typeface="Inter"/>
                <a:ea typeface="Inter"/>
                <a:cs typeface="Inter"/>
                <a:hlinkClick xmlns:r="http://schemas.openxmlformats.org/officeDocument/2006/relationships" r:id="R7b8f3fe0f43f476e"/>
              </a:rPr>
              <a:t>github.com/athosfif/patientkeeper-retorno-act-iii</a:t>
            </a:r>
          </a:p>
        </p:txBody>
      </p:sp>
      <p:sp>
        <p:nvSpPr>
          <p:cNvPr id="13" name="evaluation-next">
            <a:extLst xmlns:a="http://schemas.openxmlformats.org/drawingml/2006/main">
              <a:ext uri="{FF2B5EF4-FFF2-40B4-BE49-F238E27FC236}">
                <a16:creationId xmlns:a16="http://schemas.microsoft.com/office/drawing/2014/main" id="{5382C5FB-BFA4-48F4-B59F-4CE66D05182C}"/>
              </a:ext>
            </a:extLst>
          </p:cNvPr>
          <p:cNvSpPr>
            <a:spLocks xmlns:a="http://schemas.openxmlformats.org/drawingml/2006/main" noGrp="1"/>
          </p:cNvSpPr>
          <p:nvPr/>
        </p:nvSpPr>
        <p:spPr>
          <a:xfrm xmlns:a="http://schemas.openxmlformats.org/drawingml/2006/main">
            <a:off x="914400" y="8943975"/>
            <a:ext cx="1645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2675B"/>
                </a:solidFill>
                <a:latin typeface="Inter"/>
                <a:ea typeface="Inter"/>
                <a:cs typeface="Inter"/>
              </a:defRPr>
            </a:defPPr>
            <a:lvl1pPr>
              <a:defRPr sz="1800" b="0">
                <a:solidFill>
                  <a:srgbClr val="52675B"/>
                </a:solidFill>
                <a:latin typeface="Inter"/>
                <a:ea typeface="Inter"/>
                <a:cs typeface="Inter"/>
              </a:defRPr>
            </a:lvl1pPr>
            <a:lvl2pPr>
              <a:defRPr sz="1800" b="0">
                <a:solidFill>
                  <a:srgbClr val="52675B"/>
                </a:solidFill>
                <a:latin typeface="Inter"/>
                <a:ea typeface="Inter"/>
                <a:cs typeface="Inter"/>
              </a:defRPr>
            </a:lvl2pPr>
            <a:lvl3pPr>
              <a:defRPr sz="1800" b="0">
                <a:solidFill>
                  <a:srgbClr val="52675B"/>
                </a:solidFill>
                <a:latin typeface="Inter"/>
                <a:ea typeface="Inter"/>
                <a:cs typeface="Inter"/>
              </a:defRPr>
            </a:lvl3pPr>
            <a:lvl4pPr>
              <a:defRPr sz="1800" b="0">
                <a:solidFill>
                  <a:srgbClr val="52675B"/>
                </a:solidFill>
                <a:latin typeface="Inter"/>
                <a:ea typeface="Inter"/>
                <a:cs typeface="Inter"/>
              </a:defRPr>
            </a:lvl4pPr>
            <a:lvl5pPr>
              <a:defRPr sz="1800" b="0">
                <a:solidFill>
                  <a:srgbClr val="52675B"/>
                </a:solidFill>
                <a:latin typeface="Inter"/>
                <a:ea typeface="Inter"/>
                <a:cs typeface="Inter"/>
              </a:defRPr>
            </a:lvl5pPr>
            <a:lvl6pPr>
              <a:defRPr sz="1800" b="0">
                <a:solidFill>
                  <a:srgbClr val="52675B"/>
                </a:solidFill>
                <a:latin typeface="Inter"/>
                <a:ea typeface="Inter"/>
                <a:cs typeface="Inter"/>
              </a:defRPr>
            </a:lvl6pPr>
            <a:lvl7pPr>
              <a:defRPr sz="1800" b="0">
                <a:solidFill>
                  <a:srgbClr val="52675B"/>
                </a:solidFill>
                <a:latin typeface="Inter"/>
                <a:ea typeface="Inter"/>
                <a:cs typeface="Inter"/>
              </a:defRPr>
            </a:lvl7pPr>
            <a:lvl8pPr>
              <a:defRPr sz="1800" b="0">
                <a:solidFill>
                  <a:srgbClr val="52675B"/>
                </a:solidFill>
                <a:latin typeface="Inter"/>
                <a:ea typeface="Inter"/>
                <a:cs typeface="Inter"/>
              </a:defRPr>
            </a:lvl8pPr>
            <a:lvl9pPr>
              <a:defRPr sz="1800" b="0">
                <a:solidFill>
                  <a:srgbClr val="52675B"/>
                </a:solidFill>
                <a:latin typeface="Inter"/>
                <a:ea typeface="Inter"/>
                <a:cs typeface="Inter"/>
              </a:defRPr>
            </a:lvl9pPr>
          </a:lstStyle>
          <a:p xmlns:a="http://schemas.openxmlformats.org/drawingml/2006/main">
            <a:pPr>
              <a:buNone/>
              <a:defRPr sz="1800" b="0">
                <a:solidFill>
                  <a:srgbClr val="52675B"/>
                </a:solidFill>
                <a:latin typeface="Inter"/>
                <a:ea typeface="Inter"/>
                <a:cs typeface="Inter"/>
              </a:defRPr>
            </a:pPr>
            <a:r>
              <a:rPr sz="1800" b="0">
                <a:solidFill>
                  <a:srgbClr val="52675B"/>
                </a:solidFill>
                <a:latin typeface="Inter"/>
                <a:ea typeface="Inter"/>
                <a:cs typeface="Inter"/>
              </a:rPr>
              <a:t>Next evaluation: completion time and rework in comparable fictional tasks.</a:t>
            </a:r>
          </a:p>
        </p:txBody>
      </p:sp>
    </p:spTree>
    <p:extLst>
      <p:ext uri="{BB962C8B-B14F-4D97-AF65-F5344CB8AC3E}">
        <p14:creationId xmlns:p14="http://schemas.microsoft.com/office/powerpoint/2010/main" val="931048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PatientKeeper Retorno - AMD ACT III - R15</dc:title>
  <dcterms:created xsi:type="dcterms:W3CDTF">2026-10-16T19:56:25.2170000Z</dcterms:created>
  <dcterms:modified xsi:type="dcterms:W3CDTF">2026-10-16T19:56:25.2170000Z</dcterms:modified>
  <dc:description>Fictional doctor workflow; recorded local Gemma and Evolus execution; conditional unmeasured documentation scenario; accompanying video R11 uses synthetic Envato AI Voice / Benjamin narration. The original narration describes 14 October AMD tests; a separate 16 October Evolus pilot is shown visually.</dc:description>
</coreProperties>
</file>