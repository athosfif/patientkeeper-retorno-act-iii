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301cfbdb66473b" /><Relationship Type="http://schemas.openxmlformats.org/officeDocument/2006/relationships/extended-properties" Target="/docProps/app.xml" Id="R7ad1c0a9d1d94e87" /><Relationship Type="http://schemas.openxmlformats.org/officeDocument/2006/relationships/officeDocument" Target="/ppt/presentation.xml" Id="R77fc45206ba14b05" /></Relationships>
</file>

<file path=ppt/presentation.xml><?xml version="1.0" encoding="utf-8"?>
<p:presentation xmlns:p="http://schemas.openxmlformats.org/presentationml/2006/main">
  <p:sldMasterIdLst>
    <p:sldMasterId xmlns:r="http://schemas.openxmlformats.org/officeDocument/2006/relationships" id="2147483648" r:id="Ra60a934ec0424b84"/>
  </p:sldMasterIdLst>
  <p:notesMasterIdLst>
    <p:notesMasterId xmlns:r="http://schemas.openxmlformats.org/officeDocument/2006/relationships" r:id="R54ebe9d67d8a49f1"/>
  </p:notesMasterIdLst>
  <p:sldIdLst>
    <p:sldId xmlns:r="http://schemas.openxmlformats.org/officeDocument/2006/relationships" id="256" r:id="Rf7757b634ef048f7"/>
    <p:sldId xmlns:r="http://schemas.openxmlformats.org/officeDocument/2006/relationships" id="257" r:id="R6f7acef1f9394cae"/>
    <p:sldId xmlns:r="http://schemas.openxmlformats.org/officeDocument/2006/relationships" id="258" r:id="Rd9e757f5d65a4a40"/>
    <p:sldId xmlns:r="http://schemas.openxmlformats.org/officeDocument/2006/relationships" id="259" r:id="R9f0479bd942644df"/>
    <p:sldId xmlns:r="http://schemas.openxmlformats.org/officeDocument/2006/relationships" id="260" r:id="Rfd8af4769668408d"/>
    <p:sldId xmlns:r="http://schemas.openxmlformats.org/officeDocument/2006/relationships" id="261" r:id="R5d10cad8c7524daa"/>
    <p:sldId xmlns:r="http://schemas.openxmlformats.org/officeDocument/2006/relationships" id="262" r:id="R9a95cc187ca245b3"/>
    <p:sldId xmlns:r="http://schemas.openxmlformats.org/officeDocument/2006/relationships" id="263" r:id="R97d12ee5988e456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5c98f913bf411b" /><Relationship Type="http://schemas.openxmlformats.org/officeDocument/2006/relationships/slideMaster" Target="/ppt/slideMasters/slideMaster1.xml" Id="Ra60a934ec0424b84" /><Relationship Type="http://schemas.openxmlformats.org/officeDocument/2006/relationships/notesMaster" Target="/ppt/notesMasters/notesMaster1.xml" Id="R54ebe9d67d8a49f1" /><Relationship Type="http://schemas.openxmlformats.org/officeDocument/2006/relationships/presProps" Target="/ppt/presProps.xml" Id="R8f30cb43cd67463a" /><Relationship Type="http://schemas.openxmlformats.org/officeDocument/2006/relationships/tableStyles" Target="/ppt/tableStyles.xml" Id="R16d62c41425d4a21" /><Relationship Type="http://schemas.openxmlformats.org/officeDocument/2006/relationships/slide" Target="/ppt/slides/slide1.xml" Id="Rf7757b634ef048f7" /><Relationship Type="http://schemas.openxmlformats.org/officeDocument/2006/relationships/slide" Target="/ppt/slides/slide2.xml" Id="R6f7acef1f9394cae" /><Relationship Type="http://schemas.openxmlformats.org/officeDocument/2006/relationships/slide" Target="/ppt/slides/slide3.xml" Id="Rd9e757f5d65a4a40" /><Relationship Type="http://schemas.openxmlformats.org/officeDocument/2006/relationships/slide" Target="/ppt/slides/slide4.xml" Id="R9f0479bd942644df" /><Relationship Type="http://schemas.openxmlformats.org/officeDocument/2006/relationships/slide" Target="/ppt/slides/slide5.xml" Id="Rfd8af4769668408d" /><Relationship Type="http://schemas.openxmlformats.org/officeDocument/2006/relationships/slide" Target="/ppt/slides/slide6.xml" Id="R5d10cad8c7524daa" /><Relationship Type="http://schemas.openxmlformats.org/officeDocument/2006/relationships/slide" Target="/ppt/slides/slide7.xml" Id="R9a95cc187ca245b3" /><Relationship Type="http://schemas.openxmlformats.org/officeDocument/2006/relationships/slide" Target="/ppt/slides/slide8.xml" Id="R97d12ee5988e45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2dc0a0f88842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68059253a441e3" /><Relationship Type="http://schemas.openxmlformats.org/officeDocument/2006/relationships/notesMaster" Target="/ppt/notesMasters/notesMaster1.xml" Id="R875f34a363fc42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37079367aa4105" /><Relationship Type="http://schemas.openxmlformats.org/officeDocument/2006/relationships/notesMaster" Target="/ppt/notesMasters/notesMaster1.xml" Id="R498bf6b518504f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60886394e043f0" /><Relationship Type="http://schemas.openxmlformats.org/officeDocument/2006/relationships/notesMaster" Target="/ppt/notesMasters/notesMaster1.xml" Id="Rea553ece5ba042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1f38af78164a5d" /><Relationship Type="http://schemas.openxmlformats.org/officeDocument/2006/relationships/notesMaster" Target="/ppt/notesMasters/notesMaster1.xml" Id="Ra9d4db93518241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1dea56f4784d9c" /><Relationship Type="http://schemas.openxmlformats.org/officeDocument/2006/relationships/notesMaster" Target="/ppt/notesMasters/notesMaster1.xml" Id="R8cb017b4bcad47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cf22e83dfc439e" /><Relationship Type="http://schemas.openxmlformats.org/officeDocument/2006/relationships/notesMaster" Target="/ppt/notesMasters/notesMaster1.xml" Id="Rfe272537bc1642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14802b0fe242cf" /><Relationship Type="http://schemas.openxmlformats.org/officeDocument/2006/relationships/notesMaster" Target="/ppt/notesMasters/notesMaster1.xml" Id="R58005c46304f4f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3b48e6bb574081" /><Relationship Type="http://schemas.openxmlformats.org/officeDocument/2006/relationships/notesMaster" Target="/ppt/notesMasters/notesMaster1.xml" Id="R10877013088d44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PatientKeeper Retorno by Athos Felipe, FIGUEIRA AI, AMD ACT III. Cover is the approved R10 artwork exactly, including the official wordmark, desk-calendar conceptual image, Sequel typography and bold italic RETORNO. The cover is an image; its editable native composition remains assets/ACT-III-20261012/UX-R10/COVER-R10.html. All product records in this presentation are fictional. The cover is a concept illustration, not a photograph of a real clinic.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origin: Athos described developing solutions from problems encountered in everyday work with doctors served by FIGUEIRA. This is qualitative experience and a product hypothesis, not a survey, measured prevalence or claim about a named clinic. No staff blame, patient identity or clinical outcome is asserted. Sources: user briefing of 13–14 October 2026; README.md; BASE-PREEXISTENTE.md. Screenshot is an actual isolated synthetic doctor workspace in mobile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app/care-journey.mjs, app/care-store.mjs, app/care-journey-client.mjs and docs/CARE-JOURNEY-20261014.md. The episode SIM-CARE-01 uses only fictional doctors. A human chooses phase, responsible doctor, next administrative action and due time. Clinical protocol status remains pending with no clinical instructions, medication, fasting, weight-bearing or postoperative interval. The surgery label is an invented scenario, not an indication. The doctor can complete this demonstration without a receptionist. No real appointment is booked.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app/voice-transcription.mjs, app/voice-transcription-worker.py, app/care-journey.mjs note_prepare and docs/CARE-JOURNEY-20261014.md. Real local ASR used faster-whisper, an already cached model, CPU int8, synthetic WAV, offline guards and a bounded worker. The note copies only selected literal segments and cites their IDs. It is not a model-generated clinical summary or signed medical record. Changing the transcript invalidates the previous note. ASR execution and structural validation do not establish clinical transcription accuracy. The public static demo disables audio transcription; only the explicitly configured local version transcribes.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app/care-journey.mjs preference, protocol_update, message_prepare, message_review, contact_simulate, response_record and close; app/care-journey-client.mjs; docs/CARE-JOURNEY-20261014.md. Contact refusal or unknown preference blocks the action. Source or message changes invalidate prior review. A simulated contact requires plan, opt-in, current source review and exact message review. A recorded response or refusal supports human administrative resolution. No WhatsApp message, delivery receipt or read receipt is created. Amplimed remains in standby. The product does not authenticate a clinician or sign a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docs/recorded-gemma-runs.json; the immutable original/continuation/final-two pilot receipts of 14 October 2026 and the official authenticated service usage. Five unique requests, no retries: three affirmative candidates, one appropriate missing-source abstention, one local 15-second timeout without retained output. Four received candidates passed local format/literal-reference validation. The opt-out positive used the local product API on SIM-RET-04. The adversarial-source sample retained humanReviewRequired and did not follow its injected commands. Requested model Gemma-4-31B-IT maps in official usage to exact used service label self-dploy/Gemma-4-31B-IT; literal identifier equality is false. Physical weights and GPU hardware were not independently inspected. These are original SIM-RET queue inputs, not SIM-CARE or generated care-note evidence. The visible panel is recorded playback, with no new inference. No clinical accuracy, Google-prize eligibility or award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app/care-journey.mjs review invalidation and opt-out guards; app/evidence.mjs and app/server.mjs conflict/clinical/stale controls; BASE-PREEXISTENTE.md. The 5 October administrative scaffold predates ACT III and remains declared. Work of 12 October adds source review, cited receipts, model contract, real Qwen execution, recorded playback and UX. Work of 14 October adds a doctor workspace, local CPU ASR, extractive note and Gemma service tests/recorded evidence. Current-source checks and revisions block reuse of stale reviews. Clinical and known-conflict controls made zero provider requests in the Gemma pilot. Real surgical care instructions require a protocol authorised by the medical team; inspected educational PDFs do not supply that protocol. No baseline work is represented as newly created during the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docs/CARE-JOURNEY-20261014.md; local browser/source validation and actual ASR/Gemma receipts. The proposed business benefit is easier review of unfinished administrative work while the doctor retains control. Technical evidence is actual local synthetic-audio transcription, browser/local progress persistence and five recorded AMD service queries. No savings, clinical result, target-user adoption or ROI was measured. Next evaluation should measure task completion, rework and time in comparable fictional tasks before testing in a clinic. URLs point to the canonical existing public GitHub Pages demo and source repository; publication of the R12 update is a separate observable action. Static users can inspect the workflow and recorded evidence without keys or live GPU services. All records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827485ac454c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0a830d155314a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e25937e4d747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202983011e49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b2d139667e43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d408538e924b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414646-51C5-470C-A763-7F4D543B50D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C15ABF-6B3D-45D6-B9B4-973AFA20D2D0}"/>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5B181F-57E1-48B9-AACB-1DEC6888B738}"/>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A936E0-8420-46BA-B981-480F1542D88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58FDEE-9AE9-4F3E-BE98-BD687ADC444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0AD694-41B8-4916-8058-1AF81A3F54F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C901FA-3F6E-450E-9E24-983ADC970241}"/>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9C8FF60-8C51-495B-A6D5-617367E3892B}"/>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61752D-E0F1-436E-A191-4DD32DB8073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891195-9A53-4480-8FF5-4280565A1C7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51713c91394796" /><Relationship Type="http://schemas.openxmlformats.org/officeDocument/2006/relationships/slideLayout" Target="/ppt/slideLayouts/slideLayout1.xml" Id="R1e6fa4e434c741b4" /><Relationship Type="http://schemas.openxmlformats.org/officeDocument/2006/relationships/slideLayout" Target="/ppt/slideLayouts/slideLayout2.xml" Id="Rd5e55839a4e54f1a" /><Relationship Type="http://schemas.openxmlformats.org/officeDocument/2006/relationships/slideLayout" Target="/ppt/slideLayouts/slideLayout3.xml" Id="R899f4b62aba843fc" /><Relationship Type="http://schemas.openxmlformats.org/officeDocument/2006/relationships/slideLayout" Target="/ppt/slideLayouts/slideLayout4.xml" Id="R16e3125684954c8b" /><Relationship Type="http://schemas.openxmlformats.org/officeDocument/2006/relationships/slideLayout" Target="/ppt/slideLayouts/slideLayout5.xml" Id="Rffdd9d412ace45a2" /><Relationship Type="http://schemas.openxmlformats.org/officeDocument/2006/relationships/slideLayout" Target="/ppt/slideLayouts/slideLayout6.xml" Id="Rc64a24419fd54d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6fa4e434c741b4"/>
    <p:sldLayoutId xmlns:r="http://schemas.openxmlformats.org/officeDocument/2006/relationships" id="2147483650" r:id="Rd5e55839a4e54f1a"/>
    <p:sldLayoutId xmlns:r="http://schemas.openxmlformats.org/officeDocument/2006/relationships" id="2147483651" r:id="R899f4b62aba843fc"/>
    <p:sldLayoutId xmlns:r="http://schemas.openxmlformats.org/officeDocument/2006/relationships" id="2147483652" r:id="R16e3125684954c8b"/>
    <p:sldLayoutId xmlns:r="http://schemas.openxmlformats.org/officeDocument/2006/relationships" id="2147483653" r:id="Rffdd9d412ace45a2"/>
    <p:sldLayoutId xmlns:r="http://schemas.openxmlformats.org/officeDocument/2006/relationships" id="2147483654" r:id="Rc64a24419fd54d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b00a7a191440c7" /><Relationship Type="http://schemas.openxmlformats.org/officeDocument/2006/relationships/image" Target="/ppt/media/image.png" Id="Rf44beb5991e44e22" /><Relationship Type="http://schemas.openxmlformats.org/officeDocument/2006/relationships/notesSlide" Target="/ppt/notesSlides/notesSlide1.xml" Id="R3cdc2af13d9e49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4b740985b4b42b3" /><Relationship Type="http://schemas.openxmlformats.org/officeDocument/2006/relationships/image" Target="/ppt/media/image2.png" Id="R757b6902d03f47d1" /><Relationship Type="http://schemas.openxmlformats.org/officeDocument/2006/relationships/image" Target="/ppt/media/image.jpeg" Id="Rd31906ad49064363" /><Relationship Type="http://schemas.openxmlformats.org/officeDocument/2006/relationships/notesSlide" Target="/ppt/notesSlides/notesSlide2.xml" Id="R3fcc7bba8e8a44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2ef90fd88f44844" /><Relationship Type="http://schemas.openxmlformats.org/officeDocument/2006/relationships/image" Target="/ppt/media/image3.png" Id="R4734622698304b68" /><Relationship Type="http://schemas.openxmlformats.org/officeDocument/2006/relationships/image" Target="/ppt/media/image2.jpeg" Id="Ra41cd6d5a6414e83" /><Relationship Type="http://schemas.openxmlformats.org/officeDocument/2006/relationships/notesSlide" Target="/ppt/notesSlides/notesSlide3.xml" Id="Rdbbc0df5db7d49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a9eababad38411a" /><Relationship Type="http://schemas.openxmlformats.org/officeDocument/2006/relationships/image" Target="/ppt/media/image4.png" Id="Ra432c3b8b9ec4571" /><Relationship Type="http://schemas.openxmlformats.org/officeDocument/2006/relationships/image" Target="/ppt/media/image3.jpeg" Id="R79447510de334f4e" /><Relationship Type="http://schemas.openxmlformats.org/officeDocument/2006/relationships/notesSlide" Target="/ppt/notesSlides/notesSlide4.xml" Id="R318fe7f9426849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fffe9ca93484566" /><Relationship Type="http://schemas.openxmlformats.org/officeDocument/2006/relationships/image" Target="/ppt/media/image5.png" Id="R11d1d024eece4850" /><Relationship Type="http://schemas.openxmlformats.org/officeDocument/2006/relationships/image" Target="/ppt/media/image4.jpeg" Id="R32328a221d134dd6" /><Relationship Type="http://schemas.openxmlformats.org/officeDocument/2006/relationships/notesSlide" Target="/ppt/notesSlides/notesSlide5.xml" Id="R9b034f86ab5144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bb86555fb54551" /><Relationship Type="http://schemas.openxmlformats.org/officeDocument/2006/relationships/image" Target="/ppt/media/image6.png" Id="Rcd51261481d14af7" /><Relationship Type="http://schemas.openxmlformats.org/officeDocument/2006/relationships/image" Target="/ppt/media/image5.jpeg" Id="Rf603c0787447486c" /><Relationship Type="http://schemas.openxmlformats.org/officeDocument/2006/relationships/notesSlide" Target="/ppt/notesSlides/notesSlide6.xml" Id="R83db29f160204c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63c263f7d814444" /><Relationship Type="http://schemas.openxmlformats.org/officeDocument/2006/relationships/image" Target="/ppt/media/image7.png" Id="R20482e236d9440b4" /><Relationship Type="http://schemas.openxmlformats.org/officeDocument/2006/relationships/notesSlide" Target="/ppt/notesSlides/notesSlide7.xml" Id="R4f1e3c27ad644b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9786de0dfeb4664" /><Relationship Type="http://schemas.openxmlformats.org/officeDocument/2006/relationships/image" Target="/ppt/media/image8.png" Id="R992bc2378c694aee" /><Relationship Type="http://schemas.openxmlformats.org/officeDocument/2006/relationships/hyperlink" Target="https://athosfif.github.io/patientkeeper-retorno-act-iii/" TargetMode="External" Id="Rbc8674e94aac4ebe" /><Relationship Type="http://schemas.openxmlformats.org/officeDocument/2006/relationships/hyperlink" Target="https://github.com/athosfif/patientkeeper-retorno-act-iii" TargetMode="External" Id="R1648752d96e14c2d" /><Relationship Type="http://schemas.openxmlformats.org/officeDocument/2006/relationships/notesSlide" Target="/ppt/notesSlides/notesSlide8.xml" Id="Rd5e026c72b344ab4" /></Relationships>
</file>

<file path=ppt/slides/slide1.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5CE416A-82CF-4A66-8341-75CB3CB1FAFB}"/>
              </a:ext>
            </a:extLst>
          </p:cNvPr>
          <p:cNvPicPr>
            <a:picLocks xmlns:a="http://schemas.openxmlformats.org/drawingml/2006/main" noChangeAspect="1"/>
          </p:cNvPicPr>
          <p:nvPr/>
        </p:nvPicPr>
        <p:blipFill>
          <a:blip xmlns:r="http://schemas.openxmlformats.org/officeDocument/2006/relationships" xmlns:a="http://schemas.openxmlformats.org/drawingml/2006/main" r:embed="Rf44beb5991e44e2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425338753"/>
      </p:ext>
    </p:extLst>
  </p:cSld>
</p:sld>
</file>

<file path=ppt/slides/slide2.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1" name="neon-title-rule">
            <a:extLst xmlns:a="http://schemas.openxmlformats.org/drawingml/2006/main">
              <a:ext uri="{FF2B5EF4-FFF2-40B4-BE49-F238E27FC236}">
                <a16:creationId xmlns:a16="http://schemas.microsoft.com/office/drawing/2014/main" id="{797582E0-E26D-4416-BA13-1933AC713C82}"/>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2B6E0BDA-E3E0-4A77-90B5-E245CE3AE0B6}"/>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A missed follow-up leaves a next step open</a:t>
            </a:r>
          </a:p>
        </p:txBody>
      </p:sp>
      <p:sp>
        <p:nvSpPr>
          <p:cNvPr id="3" name="slide-subtitle">
            <a:extLst xmlns:a="http://schemas.openxmlformats.org/drawingml/2006/main">
              <a:ext uri="{FF2B5EF4-FFF2-40B4-BE49-F238E27FC236}">
                <a16:creationId xmlns:a16="http://schemas.microsoft.com/office/drawing/2014/main" id="{876A7E22-D75C-4330-912B-009A8E26AD93}"/>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An administrative problem drawn from everyday work with the doctors we serve.</a:t>
            </a:r>
          </a:p>
        </p:txBody>
      </p:sp>
      <p:sp>
        <p:nvSpPr>
          <p:cNvPr id="4" name="footer-rule">
            <a:extLst xmlns:a="http://schemas.openxmlformats.org/drawingml/2006/main">
              <a:ext uri="{FF2B5EF4-FFF2-40B4-BE49-F238E27FC236}">
                <a16:creationId xmlns:a16="http://schemas.microsoft.com/office/drawing/2014/main" id="{AB1C401E-4036-4707-9816-2A302C40DF84}"/>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9658FA49-2AB7-4A05-92C5-720E1AD51C91}"/>
              </a:ext>
            </a:extLst>
          </p:cNvPr>
          <p:cNvPicPr>
            <a:picLocks xmlns:a="http://schemas.openxmlformats.org/drawingml/2006/main" noChangeAspect="1"/>
          </p:cNvPicPr>
          <p:nvPr/>
        </p:nvPicPr>
        <p:blipFill>
          <a:blip xmlns:r="http://schemas.openxmlformats.org/officeDocument/2006/relationships" xmlns:a="http://schemas.openxmlformats.org/drawingml/2006/main" r:embed="R757b6902d03f47d1"/>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081AB3B0-DE8F-46E7-8ED2-7BC6FB8AE091}"/>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02</a:t>
            </a:r>
          </a:p>
        </p:txBody>
      </p:sp>
      <p:sp>
        <p:nvSpPr>
          <p:cNvPr id="7" name="problem-statement">
            <a:extLst xmlns:a="http://schemas.openxmlformats.org/drawingml/2006/main">
              <a:ext uri="{FF2B5EF4-FFF2-40B4-BE49-F238E27FC236}">
                <a16:creationId xmlns:a16="http://schemas.microsoft.com/office/drawing/2014/main" id="{772187AB-26F0-422C-96AF-18EE67A5C9D7}"/>
              </a:ext>
            </a:extLst>
          </p:cNvPr>
          <p:cNvSpPr>
            <a:spLocks xmlns:a="http://schemas.openxmlformats.org/drawingml/2006/main" noGrp="1"/>
          </p:cNvSpPr>
          <p:nvPr/>
        </p:nvSpPr>
        <p:spPr>
          <a:xfrm xmlns:a="http://schemas.openxmlformats.org/drawingml/2006/main">
            <a:off x="914400" y="2714625"/>
            <a:ext cx="1038225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1510"/>
                </a:solidFill>
                <a:latin typeface="Inter"/>
                <a:ea typeface="Inter"/>
                <a:cs typeface="Inter"/>
              </a:defRPr>
            </a:defPPr>
          </a:lstStyle>
          <a:p xmlns:a="http://schemas.openxmlformats.org/drawingml/2006/main">
            <a:pPr>
              <a:defRPr sz="4800" b="1">
                <a:solidFill>
                  <a:srgbClr val="101510"/>
                </a:solidFill>
                <a:latin typeface="Inter"/>
                <a:ea typeface="Inter"/>
                <a:cs typeface="Inter"/>
              </a:defRPr>
            </a:pPr>
            <a:r>
              <a:rPr sz="4800" b="1">
                <a:solidFill>
                  <a:srgbClr val="101510"/>
                </a:solidFill>
                <a:latin typeface="Inter"/>
                <a:ea typeface="Inter"/>
                <a:cs typeface="Inter"/>
              </a:rPr>
              <a:t>An unfinished follow-up</a:t>
            </a:r>
          </a:p>
          <a:p xmlns:a="http://schemas.openxmlformats.org/drawingml/2006/main">
            <a:pPr>
              <a:defRPr sz="4800" b="1">
                <a:solidFill>
                  <a:srgbClr val="101510"/>
                </a:solidFill>
                <a:latin typeface="Inter"/>
                <a:ea typeface="Inter"/>
                <a:cs typeface="Inter"/>
              </a:defRPr>
            </a:pPr>
            <a:r>
              <a:rPr sz="4800" b="1">
                <a:solidFill>
                  <a:srgbClr val="101510"/>
                </a:solidFill>
                <a:latin typeface="Inter"/>
                <a:ea typeface="Inter"/>
                <a:cs typeface="Inter"/>
              </a:rPr>
              <a:t>still needs a next step</a:t>
            </a:r>
          </a:p>
        </p:txBody>
      </p:sp>
      <p:sp>
        <p:nvSpPr>
          <p:cNvPr id="8" name="problem-context">
            <a:extLst xmlns:a="http://schemas.openxmlformats.org/drawingml/2006/main">
              <a:ext uri="{FF2B5EF4-FFF2-40B4-BE49-F238E27FC236}">
                <a16:creationId xmlns:a16="http://schemas.microsoft.com/office/drawing/2014/main" id="{ED128006-75E3-4E70-949A-3C6B480D9AF5}"/>
              </a:ext>
            </a:extLst>
          </p:cNvPr>
          <p:cNvSpPr>
            <a:spLocks xmlns:a="http://schemas.openxmlformats.org/drawingml/2006/main" noGrp="1"/>
          </p:cNvSpPr>
          <p:nvPr/>
        </p:nvSpPr>
        <p:spPr>
          <a:xfrm xmlns:a="http://schemas.openxmlformats.org/drawingml/2006/main">
            <a:off x="914400" y="5295900"/>
            <a:ext cx="9906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203D32"/>
                </a:solidFill>
                <a:latin typeface="Inter"/>
                <a:ea typeface="Inter"/>
                <a:cs typeface="Inter"/>
              </a:defRPr>
            </a:defPPr>
          </a:lstStyle>
          <a:p xmlns:a="http://schemas.openxmlformats.org/drawingml/2006/main">
            <a:pPr>
              <a:defRPr sz="2625" b="0">
                <a:solidFill>
                  <a:srgbClr val="203D32"/>
                </a:solidFill>
                <a:latin typeface="Inter"/>
                <a:ea typeface="Inter"/>
                <a:cs typeface="Inter"/>
              </a:defRPr>
            </a:pPr>
            <a:r>
              <a:rPr sz="2625" b="0">
                <a:solidFill>
                  <a:srgbClr val="203D32"/>
                </a:solidFill>
                <a:latin typeface="Inter"/>
                <a:ea typeface="Inter"/>
                <a:cs typeface="Inter"/>
              </a:rPr>
              <a:t>The doctor needs to see what remains open</a:t>
            </a:r>
          </a:p>
          <a:p xmlns:a="http://schemas.openxmlformats.org/drawingml/2006/main">
            <a:pPr>
              <a:defRPr sz="2625" b="0">
                <a:solidFill>
                  <a:srgbClr val="203D32"/>
                </a:solidFill>
                <a:latin typeface="Inter"/>
                <a:ea typeface="Inter"/>
                <a:cs typeface="Inter"/>
              </a:defRPr>
            </a:pPr>
            <a:r>
              <a:rPr sz="2625" b="0">
                <a:solidFill>
                  <a:srgbClr val="203D32"/>
                </a:solidFill>
                <a:latin typeface="Inter"/>
                <a:ea typeface="Inter"/>
                <a:cs typeface="Inter"/>
              </a:rPr>
              <a:t>and which source supports the next check.</a:t>
            </a:r>
          </a:p>
        </p:txBody>
      </p:sp>
      <p:sp>
        <p:nvSpPr>
          <p:cNvPr id="9" name="origin">
            <a:extLst xmlns:a="http://schemas.openxmlformats.org/drawingml/2006/main">
              <a:ext uri="{FF2B5EF4-FFF2-40B4-BE49-F238E27FC236}">
                <a16:creationId xmlns:a16="http://schemas.microsoft.com/office/drawing/2014/main" id="{B41C7997-3968-4EB8-AEB7-5F49C87FE3A5}"/>
              </a:ext>
            </a:extLst>
          </p:cNvPr>
          <p:cNvSpPr>
            <a:spLocks xmlns:a="http://schemas.openxmlformats.org/drawingml/2006/main" noGrp="1"/>
          </p:cNvSpPr>
          <p:nvPr/>
        </p:nvSpPr>
        <p:spPr>
          <a:xfrm xmlns:a="http://schemas.openxmlformats.org/drawingml/2006/main">
            <a:off x="914400" y="7524750"/>
            <a:ext cx="1009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Built from Athos’s everyday work</a:t>
            </a:r>
          </a:p>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with the doctors FIGUEIRA serves.</a:t>
            </a:r>
          </a:p>
        </p:txBody>
      </p:sp>
      <p:pic>
        <p:nvPicPr>
          <p:cNvPr id="10" name="">
            <a:extLst xmlns:a="http://schemas.openxmlformats.org/drawingml/2006/main">
              <a:ext uri="{FF2B5EF4-FFF2-40B4-BE49-F238E27FC236}">
                <a16:creationId xmlns:a16="http://schemas.microsoft.com/office/drawing/2014/main" id="{18D4A2B1-21A2-44B4-82C9-C4C849EDBFE3}"/>
              </a:ext>
            </a:extLst>
          </p:cNvPr>
          <p:cNvPicPr>
            <a:picLocks xmlns:a="http://schemas.openxmlformats.org/drawingml/2006/main" noChangeAspect="1"/>
          </p:cNvPicPr>
          <p:nvPr/>
        </p:nvPicPr>
        <p:blipFill>
          <a:blip xmlns:r="http://schemas.openxmlformats.org/officeDocument/2006/relationships" xmlns:a="http://schemas.openxmlformats.org/drawingml/2006/main" r:embed="Rd31906ad49064363"/>
          <a:stretch xmlns:a="http://schemas.openxmlformats.org/drawingml/2006/main"/>
        </p:blipFill>
        <p:spPr>
          <a:xfrm xmlns:a="http://schemas.openxmlformats.org/drawingml/2006/main">
            <a:off x="13440181" y="2457450"/>
            <a:ext cx="3028137" cy="6553200"/>
          </a:xfrm>
          <a:prstGeom xmlns:a="http://schemas.openxmlformats.org/drawingml/2006/main" prst="rect">
            <a:avLst/>
          </a:prstGeom>
        </p:spPr>
      </p:pic>
    </p:spTree>
    <p:extLst>
      <p:ext uri="{BB962C8B-B14F-4D97-AF65-F5344CB8AC3E}">
        <p14:creationId xmlns:p14="http://schemas.microsoft.com/office/powerpoint/2010/main" val="1096918614"/>
      </p:ext>
    </p:extLst>
  </p:cSld>
</p:sld>
</file>

<file path=ppt/slides/slide3.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9" name="neon-title-rule">
            <a:extLst xmlns:a="http://schemas.openxmlformats.org/drawingml/2006/main">
              <a:ext uri="{FF2B5EF4-FFF2-40B4-BE49-F238E27FC236}">
                <a16:creationId xmlns:a16="http://schemas.microsoft.com/office/drawing/2014/main" id="{12AB21BD-61C4-4B05-BCFB-B9E0DBD1521E}"/>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DD47D7BB-6212-414C-9988-2D8E4ADB158C}"/>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The doctor plans the next step</a:t>
            </a:r>
          </a:p>
        </p:txBody>
      </p:sp>
      <p:sp>
        <p:nvSpPr>
          <p:cNvPr id="3" name="slide-subtitle">
            <a:extLst xmlns:a="http://schemas.openxmlformats.org/drawingml/2006/main">
              <a:ext uri="{FF2B5EF4-FFF2-40B4-BE49-F238E27FC236}">
                <a16:creationId xmlns:a16="http://schemas.microsoft.com/office/drawing/2014/main" id="{1E091900-F30A-4B72-B415-3D4840A98E01}"/>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Preoperative and postoperative labels organise one administrative episode.</a:t>
            </a:r>
          </a:p>
        </p:txBody>
      </p:sp>
      <p:sp>
        <p:nvSpPr>
          <p:cNvPr id="4" name="footer-rule">
            <a:extLst xmlns:a="http://schemas.openxmlformats.org/drawingml/2006/main">
              <a:ext uri="{FF2B5EF4-FFF2-40B4-BE49-F238E27FC236}">
                <a16:creationId xmlns:a16="http://schemas.microsoft.com/office/drawing/2014/main" id="{8F8BB0FF-4AEC-4DBA-969B-2877D8CAFD2A}"/>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8E251A70-741D-4934-9E24-F3D42EDD7A60}"/>
              </a:ext>
            </a:extLst>
          </p:cNvPr>
          <p:cNvPicPr>
            <a:picLocks xmlns:a="http://schemas.openxmlformats.org/drawingml/2006/main" noChangeAspect="1"/>
          </p:cNvPicPr>
          <p:nvPr/>
        </p:nvPicPr>
        <p:blipFill>
          <a:blip xmlns:r="http://schemas.openxmlformats.org/officeDocument/2006/relationships" xmlns:a="http://schemas.openxmlformats.org/drawingml/2006/main" r:embed="R4734622698304b68"/>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906A7873-BE07-4C86-84AA-0BE4B32B22D1}"/>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03</a:t>
            </a:r>
          </a:p>
        </p:txBody>
      </p:sp>
      <p:pic>
        <p:nvPicPr>
          <p:cNvPr id="7" name="">
            <a:extLst xmlns:a="http://schemas.openxmlformats.org/drawingml/2006/main">
              <a:ext uri="{FF2B5EF4-FFF2-40B4-BE49-F238E27FC236}">
                <a16:creationId xmlns:a16="http://schemas.microsoft.com/office/drawing/2014/main" id="{8D78D929-A170-462A-B508-22AED4BD1B53}"/>
              </a:ext>
            </a:extLst>
          </p:cNvPr>
          <p:cNvPicPr>
            <a:picLocks xmlns:a="http://schemas.openxmlformats.org/drawingml/2006/main" noChangeAspect="1"/>
          </p:cNvPicPr>
          <p:nvPr/>
        </p:nvPicPr>
        <p:blipFill>
          <a:blip xmlns:r="http://schemas.openxmlformats.org/officeDocument/2006/relationships" xmlns:a="http://schemas.openxmlformats.org/drawingml/2006/main" r:embed="Ra41cd6d5a6414e83"/>
          <a:stretch xmlns:a="http://schemas.openxmlformats.org/drawingml/2006/main"/>
        </p:blipFill>
        <p:spPr>
          <a:xfrm xmlns:a="http://schemas.openxmlformats.org/drawingml/2006/main">
            <a:off x="2304955" y="2343150"/>
            <a:ext cx="13678090" cy="6096000"/>
          </a:xfrm>
          <a:prstGeom xmlns:a="http://schemas.openxmlformats.org/drawingml/2006/main" prst="rect">
            <a:avLst/>
          </a:prstGeom>
        </p:spPr>
      </p:pic>
      <p:sp>
        <p:nvSpPr>
          <p:cNvPr id="8" name="care-boundary">
            <a:extLst xmlns:a="http://schemas.openxmlformats.org/drawingml/2006/main">
              <a:ext uri="{FF2B5EF4-FFF2-40B4-BE49-F238E27FC236}">
                <a16:creationId xmlns:a16="http://schemas.microsoft.com/office/drawing/2014/main" id="{343E917F-7358-435F-BC32-9B5F74F578A9}"/>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The doctor sets the administrative check. Clinical care instructions remain pending.</a:t>
            </a:r>
          </a:p>
        </p:txBody>
      </p:sp>
    </p:spTree>
    <p:extLst>
      <p:ext uri="{BB962C8B-B14F-4D97-AF65-F5344CB8AC3E}">
        <p14:creationId xmlns:p14="http://schemas.microsoft.com/office/powerpoint/2010/main" val="1648112622"/>
      </p:ext>
    </p:extLst>
  </p:cSld>
</p:sld>
</file>

<file path=ppt/slides/slide4.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9" name="neon-title-rule">
            <a:extLst xmlns:a="http://schemas.openxmlformats.org/drawingml/2006/main">
              <a:ext uri="{FF2B5EF4-FFF2-40B4-BE49-F238E27FC236}">
                <a16:creationId xmlns:a16="http://schemas.microsoft.com/office/drawing/2014/main" id="{2BC51E22-2A24-443A-A707-BD7F18346749}"/>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631F43BC-74E3-4760-B5AA-8481F97EB994}"/>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Audio becomes a source the doctor can inspect</a:t>
            </a:r>
          </a:p>
        </p:txBody>
      </p:sp>
      <p:sp>
        <p:nvSpPr>
          <p:cNvPr id="3" name="slide-subtitle">
            <a:extLst xmlns:a="http://schemas.openxmlformats.org/drawingml/2006/main">
              <a:ext uri="{FF2B5EF4-FFF2-40B4-BE49-F238E27FC236}">
                <a16:creationId xmlns:a16="http://schemas.microsoft.com/office/drawing/2014/main" id="{912CF8A7-006B-49C0-A402-AFD4F31E40B5}"/>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Local CPU transcription supports a draft made from selected literal segments.</a:t>
            </a:r>
          </a:p>
        </p:txBody>
      </p:sp>
      <p:sp>
        <p:nvSpPr>
          <p:cNvPr id="4" name="footer-rule">
            <a:extLst xmlns:a="http://schemas.openxmlformats.org/drawingml/2006/main">
              <a:ext uri="{FF2B5EF4-FFF2-40B4-BE49-F238E27FC236}">
                <a16:creationId xmlns:a16="http://schemas.microsoft.com/office/drawing/2014/main" id="{D2FEE440-859D-44D7-A3D8-5F029FC452B1}"/>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8EF3D9E1-1F63-4B2F-BCA2-D20534FE1BEF}"/>
              </a:ext>
            </a:extLst>
          </p:cNvPr>
          <p:cNvPicPr>
            <a:picLocks xmlns:a="http://schemas.openxmlformats.org/drawingml/2006/main" noChangeAspect="1"/>
          </p:cNvPicPr>
          <p:nvPr/>
        </p:nvPicPr>
        <p:blipFill>
          <a:blip xmlns:r="http://schemas.openxmlformats.org/officeDocument/2006/relationships" xmlns:a="http://schemas.openxmlformats.org/drawingml/2006/main" r:embed="Ra432c3b8b9ec4571"/>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DA37D26B-B7E0-47C6-974F-406C11751685}"/>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04</a:t>
            </a:r>
          </a:p>
        </p:txBody>
      </p:sp>
      <p:pic>
        <p:nvPicPr>
          <p:cNvPr id="7" name="">
            <a:extLst xmlns:a="http://schemas.openxmlformats.org/drawingml/2006/main">
              <a:ext uri="{FF2B5EF4-FFF2-40B4-BE49-F238E27FC236}">
                <a16:creationId xmlns:a16="http://schemas.microsoft.com/office/drawing/2014/main" id="{5FF81BEB-83A3-48CA-A328-49C6384B50F6}"/>
              </a:ext>
            </a:extLst>
          </p:cNvPr>
          <p:cNvPicPr>
            <a:picLocks xmlns:a="http://schemas.openxmlformats.org/drawingml/2006/main" noChangeAspect="1"/>
          </p:cNvPicPr>
          <p:nvPr/>
        </p:nvPicPr>
        <p:blipFill>
          <a:blip xmlns:r="http://schemas.openxmlformats.org/officeDocument/2006/relationships" xmlns:a="http://schemas.openxmlformats.org/drawingml/2006/main" r:embed="R79447510de334f4e"/>
          <a:stretch xmlns:a="http://schemas.openxmlformats.org/drawingml/2006/main"/>
        </p:blipFill>
        <p:spPr>
          <a:xfrm xmlns:a="http://schemas.openxmlformats.org/drawingml/2006/main">
            <a:off x="914400" y="2463312"/>
            <a:ext cx="16459200" cy="5855677"/>
          </a:xfrm>
          <a:prstGeom xmlns:a="http://schemas.openxmlformats.org/drawingml/2006/main" prst="rect">
            <a:avLst/>
          </a:prstGeom>
        </p:spPr>
      </p:pic>
      <p:sp>
        <p:nvSpPr>
          <p:cNvPr id="8" name="note-boundary">
            <a:extLst xmlns:a="http://schemas.openxmlformats.org/drawingml/2006/main">
              <a:ext uri="{FF2B5EF4-FFF2-40B4-BE49-F238E27FC236}">
                <a16:creationId xmlns:a16="http://schemas.microsoft.com/office/drawing/2014/main" id="{23A5E129-A132-47C8-BB7D-2392BA149FEB}"/>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Local CPU version. Public demo: audio disabled. The draft uses selected literal segments.</a:t>
            </a:r>
          </a:p>
        </p:txBody>
      </p:sp>
    </p:spTree>
    <p:extLst>
      <p:ext uri="{BB962C8B-B14F-4D97-AF65-F5344CB8AC3E}">
        <p14:creationId xmlns:p14="http://schemas.microsoft.com/office/powerpoint/2010/main" val="108112714"/>
      </p:ext>
    </p:extLst>
  </p:cSld>
</p:sld>
</file>

<file path=ppt/slides/slide5.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9" name="neon-title-rule">
            <a:extLst xmlns:a="http://schemas.openxmlformats.org/drawingml/2006/main">
              <a:ext uri="{FF2B5EF4-FFF2-40B4-BE49-F238E27FC236}">
                <a16:creationId xmlns:a16="http://schemas.microsoft.com/office/drawing/2014/main" id="{859FEDFB-8A61-4213-84AF-4795FE0939AC}"/>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2FEDFD27-D20C-4E02-BCD1-06EE6BC68E3C}"/>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Reviewed contact remains a simulation</a:t>
            </a:r>
          </a:p>
        </p:txBody>
      </p:sp>
      <p:sp>
        <p:nvSpPr>
          <p:cNvPr id="3" name="slide-subtitle">
            <a:extLst xmlns:a="http://schemas.openxmlformats.org/drawingml/2006/main">
              <a:ext uri="{FF2B5EF4-FFF2-40B4-BE49-F238E27FC236}">
                <a16:creationId xmlns:a16="http://schemas.microsoft.com/office/drawing/2014/main" id="{1F7B0746-F578-4184-98F7-A10736536C94}"/>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Recorded consent and the current source gate a message. A fictional reply supports human resolution.</a:t>
            </a:r>
          </a:p>
        </p:txBody>
      </p:sp>
      <p:sp>
        <p:nvSpPr>
          <p:cNvPr id="4" name="footer-rule">
            <a:extLst xmlns:a="http://schemas.openxmlformats.org/drawingml/2006/main">
              <a:ext uri="{FF2B5EF4-FFF2-40B4-BE49-F238E27FC236}">
                <a16:creationId xmlns:a16="http://schemas.microsoft.com/office/drawing/2014/main" id="{AA0122E6-A4F1-42CF-B0B9-ADE1C9976896}"/>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7E377899-2F09-4ACE-9048-B4B63985C493}"/>
              </a:ext>
            </a:extLst>
          </p:cNvPr>
          <p:cNvPicPr>
            <a:picLocks xmlns:a="http://schemas.openxmlformats.org/drawingml/2006/main" noChangeAspect="1"/>
          </p:cNvPicPr>
          <p:nvPr/>
        </p:nvPicPr>
        <p:blipFill>
          <a:blip xmlns:r="http://schemas.openxmlformats.org/officeDocument/2006/relationships" xmlns:a="http://schemas.openxmlformats.org/drawingml/2006/main" r:embed="R11d1d024eece4850"/>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0BDDE080-F006-4714-B9FE-631556AD5677}"/>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05</a:t>
            </a:r>
          </a:p>
        </p:txBody>
      </p:sp>
      <p:pic>
        <p:nvPicPr>
          <p:cNvPr id="7" name="">
            <a:extLst xmlns:a="http://schemas.openxmlformats.org/drawingml/2006/main">
              <a:ext uri="{FF2B5EF4-FFF2-40B4-BE49-F238E27FC236}">
                <a16:creationId xmlns:a16="http://schemas.microsoft.com/office/drawing/2014/main" id="{A12FA500-28E7-4C98-9E11-392A5A3B12CD}"/>
              </a:ext>
            </a:extLst>
          </p:cNvPr>
          <p:cNvPicPr>
            <a:picLocks xmlns:a="http://schemas.openxmlformats.org/drawingml/2006/main" noChangeAspect="1"/>
          </p:cNvPicPr>
          <p:nvPr/>
        </p:nvPicPr>
        <p:blipFill>
          <a:blip xmlns:r="http://schemas.openxmlformats.org/officeDocument/2006/relationships" xmlns:a="http://schemas.openxmlformats.org/drawingml/2006/main" r:embed="R32328a221d134dd6"/>
          <a:stretch xmlns:a="http://schemas.openxmlformats.org/drawingml/2006/main"/>
        </p:blipFill>
        <p:spPr>
          <a:xfrm xmlns:a="http://schemas.openxmlformats.org/drawingml/2006/main">
            <a:off x="3843301" y="2343150"/>
            <a:ext cx="10601398" cy="6096000"/>
          </a:xfrm>
          <a:prstGeom xmlns:a="http://schemas.openxmlformats.org/drawingml/2006/main" prst="rect">
            <a:avLst/>
          </a:prstGeom>
        </p:spPr>
      </p:pic>
      <p:sp>
        <p:nvSpPr>
          <p:cNvPr id="8" name="contact-boundary">
            <a:extLst xmlns:a="http://schemas.openxmlformats.org/drawingml/2006/main">
              <a:ext uri="{FF2B5EF4-FFF2-40B4-BE49-F238E27FC236}">
                <a16:creationId xmlns:a16="http://schemas.microsoft.com/office/drawing/2014/main" id="{404A475E-0A1D-46A7-BFB2-800AD0C79F5F}"/>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A source change invalidates review. Refusal blocks contact. No external message is sent.</a:t>
            </a:r>
          </a:p>
        </p:txBody>
      </p:sp>
    </p:spTree>
    <p:extLst>
      <p:ext uri="{BB962C8B-B14F-4D97-AF65-F5344CB8AC3E}">
        <p14:creationId xmlns:p14="http://schemas.microsoft.com/office/powerpoint/2010/main" val="200056543"/>
      </p:ext>
    </p:extLst>
  </p:cSld>
</p:sld>
</file>

<file path=ppt/slides/slide6.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2" name="neon-title-rule">
            <a:extLst xmlns:a="http://schemas.openxmlformats.org/drawingml/2006/main">
              <a:ext uri="{FF2B5EF4-FFF2-40B4-BE49-F238E27FC236}">
                <a16:creationId xmlns:a16="http://schemas.microsoft.com/office/drawing/2014/main" id="{6F952CB8-55AE-4094-B061-3E6FD84811B5}"/>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C9E7027D-5118-4E51-977E-AAD088365329}"/>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Gemma on AMD Token Factory</a:t>
            </a:r>
          </a:p>
        </p:txBody>
      </p:sp>
      <p:sp>
        <p:nvSpPr>
          <p:cNvPr id="3" name="slide-subtitle">
            <a:extLst xmlns:a="http://schemas.openxmlformats.org/drawingml/2006/main">
              <a:ext uri="{FF2B5EF4-FFF2-40B4-BE49-F238E27FC236}">
                <a16:creationId xmlns:a16="http://schemas.microsoft.com/office/drawing/2014/main" id="{EAA8572A-A3D9-4172-BE8D-DF226D87A41B}"/>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Five distinct queries on the original return queue. The public panel replays recorded results.</a:t>
            </a:r>
          </a:p>
        </p:txBody>
      </p:sp>
      <p:sp>
        <p:nvSpPr>
          <p:cNvPr id="4" name="footer-rule">
            <a:extLst xmlns:a="http://schemas.openxmlformats.org/drawingml/2006/main">
              <a:ext uri="{FF2B5EF4-FFF2-40B4-BE49-F238E27FC236}">
                <a16:creationId xmlns:a16="http://schemas.microsoft.com/office/drawing/2014/main" id="{E08FA1F9-4DAB-435D-A3D7-3F8701020BB3}"/>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CCF33D46-4F8C-4B50-8D5F-CD5D03E3BCF6}"/>
              </a:ext>
            </a:extLst>
          </p:cNvPr>
          <p:cNvPicPr>
            <a:picLocks xmlns:a="http://schemas.openxmlformats.org/drawingml/2006/main" noChangeAspect="1"/>
          </p:cNvPicPr>
          <p:nvPr/>
        </p:nvPicPr>
        <p:blipFill>
          <a:blip xmlns:r="http://schemas.openxmlformats.org/officeDocument/2006/relationships" xmlns:a="http://schemas.openxmlformats.org/drawingml/2006/main" r:embed="Rcd51261481d14af7"/>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B23B9B87-5D12-4116-9BCE-E19107B3605C}"/>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06</a:t>
            </a:r>
          </a:p>
        </p:txBody>
      </p:sp>
      <p:sp>
        <p:nvSpPr>
          <p:cNvPr id="7" name="gemma-observed-counts">
            <a:extLst xmlns:a="http://schemas.openxmlformats.org/drawingml/2006/main">
              <a:ext uri="{FF2B5EF4-FFF2-40B4-BE49-F238E27FC236}">
                <a16:creationId xmlns:a16="http://schemas.microsoft.com/office/drawing/2014/main" id="{0733BEBF-8E21-48FC-9634-2AF000B45B65}"/>
              </a:ext>
            </a:extLst>
          </p:cNvPr>
          <p:cNvSpPr>
            <a:spLocks xmlns:a="http://schemas.openxmlformats.org/drawingml/2006/main" noGrp="1"/>
          </p:cNvSpPr>
          <p:nvPr/>
        </p:nvSpPr>
        <p:spPr>
          <a:xfrm xmlns:a="http://schemas.openxmlformats.org/drawingml/2006/main">
            <a:off x="914400" y="2533650"/>
            <a:ext cx="1645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203D32"/>
                </a:solidFill>
                <a:latin typeface="Inter"/>
                <a:ea typeface="Inter"/>
                <a:cs typeface="Inter"/>
              </a:defRPr>
            </a:defPPr>
          </a:lstStyle>
          <a:p xmlns:a="http://schemas.openxmlformats.org/drawingml/2006/main">
            <a:pPr>
              <a:defRPr sz="3375" b="1">
                <a:solidFill>
                  <a:srgbClr val="203D32"/>
                </a:solidFill>
                <a:latin typeface="Inter"/>
                <a:ea typeface="Inter"/>
                <a:cs typeface="Inter"/>
              </a:defRPr>
            </a:pPr>
            <a:r>
              <a:rPr sz="3375" b="1">
                <a:solidFill>
                  <a:srgbClr val="203D32"/>
                </a:solidFill>
                <a:latin typeface="Inter"/>
                <a:ea typeface="Inter"/>
                <a:cs typeface="Inter"/>
              </a:rPr>
              <a:t>5 queries: 3 answer candidates · 1 abstention · 1 timeout</a:t>
            </a:r>
          </a:p>
        </p:txBody>
      </p:sp>
      <p:sp>
        <p:nvSpPr>
          <p:cNvPr id="8" name="gemma-original-label">
            <a:extLst xmlns:a="http://schemas.openxmlformats.org/drawingml/2006/main">
              <a:ext uri="{FF2B5EF4-FFF2-40B4-BE49-F238E27FC236}">
                <a16:creationId xmlns:a16="http://schemas.microsoft.com/office/drawing/2014/main" id="{7CD454BB-553C-4C3D-8633-413527EB4C36}"/>
              </a:ext>
            </a:extLst>
          </p:cNvPr>
          <p:cNvSpPr>
            <a:spLocks xmlns:a="http://schemas.openxmlformats.org/drawingml/2006/main" noGrp="1"/>
          </p:cNvSpPr>
          <p:nvPr/>
        </p:nvSpPr>
        <p:spPr>
          <a:xfrm xmlns:a="http://schemas.openxmlformats.org/drawingml/2006/main">
            <a:off x="914400" y="3886200"/>
            <a:ext cx="4476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2675B"/>
                </a:solidFill>
                <a:latin typeface="Inter"/>
                <a:ea typeface="Inter"/>
                <a:cs typeface="Inter"/>
              </a:defRPr>
            </a:defPPr>
          </a:lstStyle>
          <a:p xmlns:a="http://schemas.openxmlformats.org/drawingml/2006/main">
            <a:pPr>
              <a:defRPr sz="1800" b="1">
                <a:solidFill>
                  <a:srgbClr val="52675B"/>
                </a:solidFill>
                <a:latin typeface="Inter"/>
                <a:ea typeface="Inter"/>
                <a:cs typeface="Inter"/>
              </a:defRPr>
            </a:pPr>
            <a:r>
              <a:rPr sz="1800" b="1">
                <a:solidFill>
                  <a:srgbClr val="52675B"/>
                </a:solidFill>
                <a:latin typeface="Inter"/>
                <a:ea typeface="Inter"/>
                <a:cs typeface="Inter"/>
              </a:rPr>
              <a:t>SIM04-PREFERENCIA</a:t>
            </a:r>
          </a:p>
          <a:p xmlns:a="http://schemas.openxmlformats.org/drawingml/2006/main">
            <a:pPr>
              <a:defRPr sz="1800" b="1">
                <a:solidFill>
                  <a:srgbClr val="52675B"/>
                </a:solidFill>
                <a:latin typeface="Inter"/>
                <a:ea typeface="Inter"/>
                <a:cs typeface="Inter"/>
              </a:defRPr>
            </a:pPr>
            <a:r>
              <a:rPr sz="1800" b="1">
                <a:solidFill>
                  <a:srgbClr val="52675B"/>
                </a:solidFill>
                <a:latin typeface="Inter"/>
                <a:ea typeface="Inter"/>
                <a:cs typeface="Inter"/>
              </a:rPr>
              <a:t>Original source · Portuguese</a:t>
            </a:r>
          </a:p>
        </p:txBody>
      </p:sp>
      <p:sp>
        <p:nvSpPr>
          <p:cNvPr id="9" name="gemma-original-quote">
            <a:extLst xmlns:a="http://schemas.openxmlformats.org/drawingml/2006/main">
              <a:ext uri="{FF2B5EF4-FFF2-40B4-BE49-F238E27FC236}">
                <a16:creationId xmlns:a16="http://schemas.microsoft.com/office/drawing/2014/main" id="{A55E8939-5B91-4261-AB7D-51818008C040}"/>
              </a:ext>
            </a:extLst>
          </p:cNvPr>
          <p:cNvSpPr>
            <a:spLocks xmlns:a="http://schemas.openxmlformats.org/drawingml/2006/main" noGrp="1"/>
          </p:cNvSpPr>
          <p:nvPr/>
        </p:nvSpPr>
        <p:spPr>
          <a:xfrm xmlns:a="http://schemas.openxmlformats.org/drawingml/2006/main">
            <a:off x="914400" y="4962525"/>
            <a:ext cx="4476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2"/>
                </a:solidFill>
                <a:latin typeface="Inter"/>
                <a:ea typeface="Inter"/>
                <a:cs typeface="Inter"/>
              </a:defRPr>
            </a:defPPr>
          </a:lstStyle>
          <a:p xmlns:a="http://schemas.openxmlformats.org/drawingml/2006/main">
            <a:pPr>
              <a:defRPr sz="2175" b="0">
                <a:solidFill>
                  <a:srgbClr val="203D32"/>
                </a:solidFill>
                <a:latin typeface="Inter"/>
                <a:ea typeface="Inter"/>
                <a:cs typeface="Inter"/>
              </a:defRPr>
            </a:pPr>
            <a:r>
              <a:rPr sz="2175" b="0">
                <a:solidFill>
                  <a:srgbClr val="203D32"/>
                </a:solidFill>
                <a:latin typeface="Inter"/>
                <a:ea typeface="Inter"/>
                <a:cs typeface="Inter"/>
              </a:rPr>
              <a:t>“Na simulacao, o paciente registrou: prefiro nao receber mensagens sobre esta remarcacao.”</a:t>
            </a:r>
          </a:p>
        </p:txBody>
      </p:sp>
      <p:pic>
        <p:nvPicPr>
          <p:cNvPr id="10" name="">
            <a:extLst xmlns:a="http://schemas.openxmlformats.org/drawingml/2006/main">
              <a:ext uri="{FF2B5EF4-FFF2-40B4-BE49-F238E27FC236}">
                <a16:creationId xmlns:a16="http://schemas.microsoft.com/office/drawing/2014/main" id="{3AB56E4A-E37B-4340-95A7-74F9F68338B2}"/>
              </a:ext>
            </a:extLst>
          </p:cNvPr>
          <p:cNvPicPr>
            <a:picLocks xmlns:a="http://schemas.openxmlformats.org/drawingml/2006/main" noChangeAspect="1"/>
          </p:cNvPicPr>
          <p:nvPr/>
        </p:nvPicPr>
        <p:blipFill>
          <a:blip xmlns:r="http://schemas.openxmlformats.org/officeDocument/2006/relationships" xmlns:a="http://schemas.openxmlformats.org/drawingml/2006/main" r:embed="Rf603c0787447486c"/>
          <a:stretch xmlns:a="http://schemas.openxmlformats.org/drawingml/2006/main"/>
        </p:blipFill>
        <p:spPr>
          <a:xfrm xmlns:a="http://schemas.openxmlformats.org/drawingml/2006/main">
            <a:off x="6729990" y="3457575"/>
            <a:ext cx="10009619" cy="4953000"/>
          </a:xfrm>
          <a:prstGeom xmlns:a="http://schemas.openxmlformats.org/drawingml/2006/main" prst="rect">
            <a:avLst/>
          </a:prstGeom>
        </p:spPr>
      </p:pic>
      <p:sp>
        <p:nvSpPr>
          <p:cNvPr id="11" name="gemma-boundary">
            <a:extLst xmlns:a="http://schemas.openxmlformats.org/drawingml/2006/main">
              <a:ext uri="{FF2B5EF4-FFF2-40B4-BE49-F238E27FC236}">
                <a16:creationId xmlns:a16="http://schemas.microsoft.com/office/drawing/2014/main" id="{8FBBF7DD-4B4E-41C4-ABE6-1AD839DC7A8A}"/>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Original queue evidence. No care-note generation or live demo inference.</a:t>
            </a:r>
          </a:p>
        </p:txBody>
      </p:sp>
    </p:spTree>
    <p:extLst>
      <p:ext uri="{BB962C8B-B14F-4D97-AF65-F5344CB8AC3E}">
        <p14:creationId xmlns:p14="http://schemas.microsoft.com/office/powerpoint/2010/main" val="1871179203"/>
      </p:ext>
    </p:extLst>
  </p:cSld>
</p:sld>
</file>

<file path=ppt/slides/slide7.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9" name="neon-title-rule">
            <a:extLst xmlns:a="http://schemas.openxmlformats.org/drawingml/2006/main">
              <a:ext uri="{FF2B5EF4-FFF2-40B4-BE49-F238E27FC236}">
                <a16:creationId xmlns:a16="http://schemas.microsoft.com/office/drawing/2014/main" id="{3E2A2BE6-689B-4CD1-BB9F-D01672916D4C}"/>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D877EA04-B868-4AF1-B4CE-34D0383FFAA1}"/>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Sources and consent keep the limits visible</a:t>
            </a:r>
          </a:p>
        </p:txBody>
      </p:sp>
      <p:sp>
        <p:nvSpPr>
          <p:cNvPr id="3" name="slide-subtitle">
            <a:extLst xmlns:a="http://schemas.openxmlformats.org/drawingml/2006/main">
              <a:ext uri="{FF2B5EF4-FFF2-40B4-BE49-F238E27FC236}">
                <a16:creationId xmlns:a16="http://schemas.microsoft.com/office/drawing/2014/main" id="{A471A4C0-16FB-4264-AF75-EC2360A1EBFE}"/>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Human checks control the next step. Clinical protocol content remains pending.</a:t>
            </a:r>
          </a:p>
        </p:txBody>
      </p:sp>
      <p:sp>
        <p:nvSpPr>
          <p:cNvPr id="4" name="footer-rule">
            <a:extLst xmlns:a="http://schemas.openxmlformats.org/drawingml/2006/main">
              <a:ext uri="{FF2B5EF4-FFF2-40B4-BE49-F238E27FC236}">
                <a16:creationId xmlns:a16="http://schemas.microsoft.com/office/drawing/2014/main" id="{3F48BCA6-70E2-4CF9-AE5E-A7236D6F179A}"/>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1864EB93-9AAD-4066-8960-ED93B6247341}"/>
              </a:ext>
            </a:extLst>
          </p:cNvPr>
          <p:cNvPicPr>
            <a:picLocks xmlns:a="http://schemas.openxmlformats.org/drawingml/2006/main" noChangeAspect="1"/>
          </p:cNvPicPr>
          <p:nvPr/>
        </p:nvPicPr>
        <p:blipFill>
          <a:blip xmlns:r="http://schemas.openxmlformats.org/officeDocument/2006/relationships" xmlns:a="http://schemas.openxmlformats.org/drawingml/2006/main" r:embed="R20482e236d9440b4"/>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4B213288-44B9-4399-8023-6F6B961EA00B}"/>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07</a:t>
            </a:r>
          </a:p>
        </p:txBody>
      </p:sp>
      <p:sp>
        <p:nvSpPr>
          <p:cNvPr id="7" name="consent-guard">
            <a:extLst xmlns:a="http://schemas.openxmlformats.org/drawingml/2006/main">
              <a:ext uri="{FF2B5EF4-FFF2-40B4-BE49-F238E27FC236}">
                <a16:creationId xmlns:a16="http://schemas.microsoft.com/office/drawing/2014/main" id="{0E488B55-265C-450B-8234-F546FF37A65D}"/>
              </a:ext>
            </a:extLst>
          </p:cNvPr>
          <p:cNvSpPr>
            <a:spLocks xmlns:a="http://schemas.openxmlformats.org/drawingml/2006/main" noGrp="1"/>
          </p:cNvSpPr>
          <p:nvPr/>
        </p:nvSpPr>
        <p:spPr>
          <a:xfrm xmlns:a="http://schemas.openxmlformats.org/drawingml/2006/main">
            <a:off x="914400" y="2762250"/>
            <a:ext cx="7562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stStyle>
          <a:p xmlns:a="http://schemas.openxmlformats.org/drawingml/2006/main">
            <a:pPr>
              <a:defRPr sz="2700" b="1">
                <a:solidFill>
                  <a:srgbClr val="203D32"/>
                </a:solidFill>
                <a:latin typeface="Inter"/>
                <a:ea typeface="Inter"/>
                <a:cs typeface="Inter"/>
              </a:defRPr>
            </a:pPr>
            <a:r>
              <a:rPr sz="2700" b="1">
                <a:solidFill>
                  <a:srgbClr val="203D32"/>
                </a:solidFill>
                <a:latin typeface="Inter"/>
                <a:ea typeface="Inter"/>
                <a:cs typeface="Inter"/>
              </a:rPr>
              <a:t>Refusal blocks contact</a:t>
            </a:r>
          </a:p>
        </p:txBody>
      </p:sp>
      <p:sp>
        <p:nvSpPr>
          <p:cNvPr id="8" name="source-guard">
            <a:extLst xmlns:a="http://schemas.openxmlformats.org/drawingml/2006/main">
              <a:ext uri="{FF2B5EF4-FFF2-40B4-BE49-F238E27FC236}">
                <a16:creationId xmlns:a16="http://schemas.microsoft.com/office/drawing/2014/main" id="{A3A0996E-E88D-446F-A76F-7DE8052E1156}"/>
              </a:ext>
            </a:extLst>
          </p:cNvPr>
          <p:cNvSpPr>
            <a:spLocks xmlns:a="http://schemas.openxmlformats.org/drawingml/2006/main" noGrp="1"/>
          </p:cNvSpPr>
          <p:nvPr/>
        </p:nvSpPr>
        <p:spPr>
          <a:xfrm xmlns:a="http://schemas.openxmlformats.org/drawingml/2006/main">
            <a:off x="914400" y="3714750"/>
            <a:ext cx="75628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stStyle>
          <a:p xmlns:a="http://schemas.openxmlformats.org/drawingml/2006/main">
            <a:pPr>
              <a:defRPr sz="2700" b="1">
                <a:solidFill>
                  <a:srgbClr val="203D32"/>
                </a:solidFill>
                <a:latin typeface="Inter"/>
                <a:ea typeface="Inter"/>
                <a:cs typeface="Inter"/>
              </a:defRPr>
            </a:pPr>
            <a:r>
              <a:rPr sz="2700" b="1">
                <a:solidFill>
                  <a:srgbClr val="203D32"/>
                </a:solidFill>
                <a:latin typeface="Inter"/>
                <a:ea typeface="Inter"/>
                <a:cs typeface="Inter"/>
              </a:rPr>
              <a:t>A changed source invalidates review</a:t>
            </a:r>
          </a:p>
        </p:txBody>
      </p:sp>
      <p:sp>
        <p:nvSpPr>
          <p:cNvPr id="9" name="clinical-guard">
            <a:extLst xmlns:a="http://schemas.openxmlformats.org/drawingml/2006/main">
              <a:ext uri="{FF2B5EF4-FFF2-40B4-BE49-F238E27FC236}">
                <a16:creationId xmlns:a16="http://schemas.microsoft.com/office/drawing/2014/main" id="{8D495EA1-BB16-4F49-BBC0-3C62F2F267DD}"/>
              </a:ext>
            </a:extLst>
          </p:cNvPr>
          <p:cNvSpPr>
            <a:spLocks xmlns:a="http://schemas.openxmlformats.org/drawingml/2006/main" noGrp="1"/>
          </p:cNvSpPr>
          <p:nvPr/>
        </p:nvSpPr>
        <p:spPr>
          <a:xfrm xmlns:a="http://schemas.openxmlformats.org/drawingml/2006/main">
            <a:off x="914400" y="5105400"/>
            <a:ext cx="75628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stStyle>
          <a:p xmlns:a="http://schemas.openxmlformats.org/drawingml/2006/main">
            <a:pPr>
              <a:defRPr sz="2700" b="1">
                <a:solidFill>
                  <a:srgbClr val="203D32"/>
                </a:solidFill>
                <a:latin typeface="Inter"/>
                <a:ea typeface="Inter"/>
                <a:cs typeface="Inter"/>
              </a:defRPr>
            </a:pPr>
            <a:r>
              <a:rPr sz="2700" b="1">
                <a:solidFill>
                  <a:srgbClr val="203D32"/>
                </a:solidFill>
                <a:latin typeface="Inter"/>
                <a:ea typeface="Inter"/>
                <a:cs typeface="Inter"/>
              </a:rPr>
              <a:t>Conflicts and clinical questions</a:t>
            </a:r>
          </a:p>
          <a:p xmlns:a="http://schemas.openxmlformats.org/drawingml/2006/main">
            <a:pPr>
              <a:defRPr sz="2700" b="1">
                <a:solidFill>
                  <a:srgbClr val="203D32"/>
                </a:solidFill>
                <a:latin typeface="Inter"/>
                <a:ea typeface="Inter"/>
                <a:cs typeface="Inter"/>
              </a:defRPr>
            </a:pPr>
            <a:r>
              <a:rPr sz="2700" b="1">
                <a:solidFill>
                  <a:srgbClr val="203D32"/>
                </a:solidFill>
                <a:latin typeface="Inter"/>
                <a:ea typeface="Inter"/>
                <a:cs typeface="Inter"/>
              </a:rPr>
              <a:t>go to the responsible team</a:t>
            </a:r>
          </a:p>
        </p:txBody>
      </p:sp>
      <p:sp>
        <p:nvSpPr>
          <p:cNvPr id="10" name="record-guard">
            <a:extLst xmlns:a="http://schemas.openxmlformats.org/drawingml/2006/main">
              <a:ext uri="{FF2B5EF4-FFF2-40B4-BE49-F238E27FC236}">
                <a16:creationId xmlns:a16="http://schemas.microsoft.com/office/drawing/2014/main" id="{D4A71B4A-2C48-4782-B17A-FBCCCD3B06FE}"/>
              </a:ext>
            </a:extLst>
          </p:cNvPr>
          <p:cNvSpPr>
            <a:spLocks xmlns:a="http://schemas.openxmlformats.org/drawingml/2006/main" noGrp="1"/>
          </p:cNvSpPr>
          <p:nvPr/>
        </p:nvSpPr>
        <p:spPr>
          <a:xfrm xmlns:a="http://schemas.openxmlformats.org/drawingml/2006/main">
            <a:off x="914400" y="6724650"/>
            <a:ext cx="75628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stStyle>
          <a:p xmlns:a="http://schemas.openxmlformats.org/drawingml/2006/main">
            <a:pPr>
              <a:defRPr sz="2700" b="1">
                <a:solidFill>
                  <a:srgbClr val="203D32"/>
                </a:solidFill>
                <a:latin typeface="Inter"/>
                <a:ea typeface="Inter"/>
                <a:cs typeface="Inter"/>
              </a:defRPr>
            </a:pPr>
            <a:r>
              <a:rPr sz="2700" b="1">
                <a:solidFill>
                  <a:srgbClr val="203D32"/>
                </a:solidFill>
                <a:latin typeface="Inter"/>
                <a:ea typeface="Inter"/>
                <a:cs typeface="Inter"/>
              </a:rPr>
              <a:t>The export remains a draft</a:t>
            </a:r>
          </a:p>
          <a:p xmlns:a="http://schemas.openxmlformats.org/drawingml/2006/main">
            <a:pPr>
              <a:defRPr sz="2700" b="1">
                <a:solidFill>
                  <a:srgbClr val="203D32"/>
                </a:solidFill>
                <a:latin typeface="Inter"/>
                <a:ea typeface="Inter"/>
                <a:cs typeface="Inter"/>
              </a:defRPr>
            </a:pPr>
            <a:r>
              <a:rPr sz="2700" b="1">
                <a:solidFill>
                  <a:srgbClr val="203D32"/>
                </a:solidFill>
                <a:latin typeface="Inter"/>
                <a:ea typeface="Inter"/>
                <a:cs typeface="Inter"/>
              </a:rPr>
              <a:t>for human review</a:t>
            </a:r>
          </a:p>
        </p:txBody>
      </p:sp>
      <p:sp>
        <p:nvSpPr>
          <p:cNvPr id="11" name="clinical-protocol-limit">
            <a:extLst xmlns:a="http://schemas.openxmlformats.org/drawingml/2006/main">
              <a:ext uri="{FF2B5EF4-FFF2-40B4-BE49-F238E27FC236}">
                <a16:creationId xmlns:a16="http://schemas.microsoft.com/office/drawing/2014/main" id="{99E083BB-B7CB-4E0E-8AD7-4A9A1EF8E191}"/>
              </a:ext>
            </a:extLst>
          </p:cNvPr>
          <p:cNvSpPr>
            <a:spLocks xmlns:a="http://schemas.openxmlformats.org/drawingml/2006/main" noGrp="1"/>
          </p:cNvSpPr>
          <p:nvPr/>
        </p:nvSpPr>
        <p:spPr>
          <a:xfrm xmlns:a="http://schemas.openxmlformats.org/drawingml/2006/main">
            <a:off x="914400" y="8286750"/>
            <a:ext cx="7562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Authorised surgical instructions remain pending.</a:t>
            </a:r>
          </a:p>
        </p:txBody>
      </p:sp>
      <p:sp>
        <p:nvSpPr>
          <p:cNvPr id="12" name="timeline-divider">
            <a:extLst xmlns:a="http://schemas.openxmlformats.org/drawingml/2006/main">
              <a:ext uri="{FF2B5EF4-FFF2-40B4-BE49-F238E27FC236}">
                <a16:creationId xmlns:a16="http://schemas.microsoft.com/office/drawing/2014/main" id="{92913309-28DF-47E2-B6D8-E2F5456E3878}"/>
              </a:ext>
            </a:extLst>
          </p:cNvPr>
          <p:cNvSpPr>
            <a:spLocks xmlns:a="http://schemas.openxmlformats.org/drawingml/2006/main" noGrp="1"/>
          </p:cNvSpPr>
          <p:nvPr/>
        </p:nvSpPr>
        <p:spPr>
          <a:xfrm xmlns:a="http://schemas.openxmlformats.org/drawingml/2006/main">
            <a:off x="9058275" y="2667000"/>
            <a:ext cx="9525" cy="6153150"/>
          </a:xfrm>
          <a:prstGeom xmlns:a="http://schemas.openxmlformats.org/drawingml/2006/main" prst="rect">
            <a:avLst/>
          </a:prstGeom>
          <a:solidFill xmlns:a="http://schemas.openxmlformats.org/drawingml/2006/main">
            <a:srgbClr val="C5CFBF"/>
          </a:solidFill>
          <a:ln xmlns:a="http://schemas.openxmlformats.org/drawingml/2006/main" w="0">
            <a:noFill/>
          </a:ln>
        </p:spPr>
      </p:sp>
      <p:sp>
        <p:nvSpPr>
          <p:cNvPr id="13" name="baseline-date">
            <a:extLst xmlns:a="http://schemas.openxmlformats.org/drawingml/2006/main">
              <a:ext uri="{FF2B5EF4-FFF2-40B4-BE49-F238E27FC236}">
                <a16:creationId xmlns:a16="http://schemas.microsoft.com/office/drawing/2014/main" id="{F031A91C-BFEB-4B12-B128-A7C72D4DAE2D}"/>
              </a:ext>
            </a:extLst>
          </p:cNvPr>
          <p:cNvSpPr>
            <a:spLocks xmlns:a="http://schemas.openxmlformats.org/drawingml/2006/main" noGrp="1"/>
          </p:cNvSpPr>
          <p:nvPr/>
        </p:nvSpPr>
        <p:spPr>
          <a:xfrm xmlns:a="http://schemas.openxmlformats.org/drawingml/2006/main">
            <a:off x="9982200" y="2762250"/>
            <a:ext cx="7391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01510"/>
                </a:solidFill>
                <a:latin typeface="Inter"/>
                <a:ea typeface="Inter"/>
                <a:cs typeface="Inter"/>
              </a:defRPr>
            </a:defPPr>
          </a:lstStyle>
          <a:p xmlns:a="http://schemas.openxmlformats.org/drawingml/2006/main">
            <a:pPr>
              <a:defRPr sz="2700" b="1">
                <a:solidFill>
                  <a:srgbClr val="101510"/>
                </a:solidFill>
                <a:latin typeface="Inter"/>
                <a:ea typeface="Inter"/>
                <a:cs typeface="Inter"/>
              </a:defRPr>
            </a:pPr>
            <a:r>
              <a:rPr sz="2700" b="1">
                <a:solidFill>
                  <a:srgbClr val="101510"/>
                </a:solidFill>
                <a:latin typeface="Inter"/>
                <a:ea typeface="Inter"/>
                <a:cs typeface="Inter"/>
              </a:rPr>
              <a:t>5 October</a:t>
            </a:r>
          </a:p>
        </p:txBody>
      </p:sp>
      <p:sp>
        <p:nvSpPr>
          <p:cNvPr id="14" name="baseline-origin">
            <a:extLst xmlns:a="http://schemas.openxmlformats.org/drawingml/2006/main">
              <a:ext uri="{FF2B5EF4-FFF2-40B4-BE49-F238E27FC236}">
                <a16:creationId xmlns:a16="http://schemas.microsoft.com/office/drawing/2014/main" id="{30F40FC2-525D-43D6-9B4F-0F80360817BC}"/>
              </a:ext>
            </a:extLst>
          </p:cNvPr>
          <p:cNvSpPr>
            <a:spLocks xmlns:a="http://schemas.openxmlformats.org/drawingml/2006/main" noGrp="1"/>
          </p:cNvSpPr>
          <p:nvPr/>
        </p:nvSpPr>
        <p:spPr>
          <a:xfrm xmlns:a="http://schemas.openxmlformats.org/drawingml/2006/main">
            <a:off x="9982200" y="3476625"/>
            <a:ext cx="7391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Declared pre-event administrative scaffold.</a:t>
            </a:r>
          </a:p>
        </p:txBody>
      </p:sp>
      <p:sp>
        <p:nvSpPr>
          <p:cNvPr id="15" name="event-date">
            <a:extLst xmlns:a="http://schemas.openxmlformats.org/drawingml/2006/main">
              <a:ext uri="{FF2B5EF4-FFF2-40B4-BE49-F238E27FC236}">
                <a16:creationId xmlns:a16="http://schemas.microsoft.com/office/drawing/2014/main" id="{C770A465-822B-4EAA-B623-8BF8A70B6144}"/>
              </a:ext>
            </a:extLst>
          </p:cNvPr>
          <p:cNvSpPr>
            <a:spLocks xmlns:a="http://schemas.openxmlformats.org/drawingml/2006/main" noGrp="1"/>
          </p:cNvSpPr>
          <p:nvPr/>
        </p:nvSpPr>
        <p:spPr>
          <a:xfrm xmlns:a="http://schemas.openxmlformats.org/drawingml/2006/main">
            <a:off x="9982200" y="4800600"/>
            <a:ext cx="7391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01510"/>
                </a:solidFill>
                <a:latin typeface="Inter"/>
                <a:ea typeface="Inter"/>
                <a:cs typeface="Inter"/>
              </a:defRPr>
            </a:defPPr>
          </a:lstStyle>
          <a:p xmlns:a="http://schemas.openxmlformats.org/drawingml/2006/main">
            <a:pPr>
              <a:defRPr sz="2700" b="1">
                <a:solidFill>
                  <a:srgbClr val="101510"/>
                </a:solidFill>
                <a:latin typeface="Inter"/>
                <a:ea typeface="Inter"/>
                <a:cs typeface="Inter"/>
              </a:defRPr>
            </a:pPr>
            <a:r>
              <a:rPr sz="2700" b="1">
                <a:solidFill>
                  <a:srgbClr val="101510"/>
                </a:solidFill>
                <a:latin typeface="Inter"/>
                <a:ea typeface="Inter"/>
                <a:cs typeface="Inter"/>
              </a:rPr>
              <a:t>12 October</a:t>
            </a:r>
          </a:p>
        </p:txBody>
      </p:sp>
      <p:sp>
        <p:nvSpPr>
          <p:cNvPr id="16" name="event-origin">
            <a:extLst xmlns:a="http://schemas.openxmlformats.org/drawingml/2006/main">
              <a:ext uri="{FF2B5EF4-FFF2-40B4-BE49-F238E27FC236}">
                <a16:creationId xmlns:a16="http://schemas.microsoft.com/office/drawing/2014/main" id="{89B64C93-29F0-4668-B863-1A02997837A0}"/>
              </a:ext>
            </a:extLst>
          </p:cNvPr>
          <p:cNvSpPr>
            <a:spLocks xmlns:a="http://schemas.openxmlformats.org/drawingml/2006/main" noGrp="1"/>
          </p:cNvSpPr>
          <p:nvPr/>
        </p:nvSpPr>
        <p:spPr>
          <a:xfrm xmlns:a="http://schemas.openxmlformats.org/drawingml/2006/main">
            <a:off x="9982200" y="5514975"/>
            <a:ext cx="7391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Source review and real Qwen execution on AMD.</a:t>
            </a:r>
          </a:p>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Recorded playback and interface improvements.</a:t>
            </a:r>
          </a:p>
        </p:txBody>
      </p:sp>
      <p:sp>
        <p:nvSpPr>
          <p:cNvPr id="17" name="increment-date">
            <a:extLst xmlns:a="http://schemas.openxmlformats.org/drawingml/2006/main">
              <a:ext uri="{FF2B5EF4-FFF2-40B4-BE49-F238E27FC236}">
                <a16:creationId xmlns:a16="http://schemas.microsoft.com/office/drawing/2014/main" id="{AA104280-63AB-4494-884C-1D07E0376497}"/>
              </a:ext>
            </a:extLst>
          </p:cNvPr>
          <p:cNvSpPr>
            <a:spLocks xmlns:a="http://schemas.openxmlformats.org/drawingml/2006/main" noGrp="1"/>
          </p:cNvSpPr>
          <p:nvPr/>
        </p:nvSpPr>
        <p:spPr>
          <a:xfrm xmlns:a="http://schemas.openxmlformats.org/drawingml/2006/main">
            <a:off x="9982200" y="7029450"/>
            <a:ext cx="7391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01510"/>
                </a:solidFill>
                <a:latin typeface="Inter"/>
                <a:ea typeface="Inter"/>
                <a:cs typeface="Inter"/>
              </a:defRPr>
            </a:defPPr>
          </a:lstStyle>
          <a:p xmlns:a="http://schemas.openxmlformats.org/drawingml/2006/main">
            <a:pPr>
              <a:defRPr sz="2700" b="1">
                <a:solidFill>
                  <a:srgbClr val="101510"/>
                </a:solidFill>
                <a:latin typeface="Inter"/>
                <a:ea typeface="Inter"/>
                <a:cs typeface="Inter"/>
              </a:defRPr>
            </a:pPr>
            <a:r>
              <a:rPr sz="2700" b="1">
                <a:solidFill>
                  <a:srgbClr val="101510"/>
                </a:solidFill>
                <a:latin typeface="Inter"/>
                <a:ea typeface="Inter"/>
                <a:cs typeface="Inter"/>
              </a:rPr>
              <a:t>14 October</a:t>
            </a:r>
          </a:p>
        </p:txBody>
      </p:sp>
      <p:sp>
        <p:nvSpPr>
          <p:cNvPr id="18" name="increment-origin">
            <a:extLst xmlns:a="http://schemas.openxmlformats.org/drawingml/2006/main">
              <a:ext uri="{FF2B5EF4-FFF2-40B4-BE49-F238E27FC236}">
                <a16:creationId xmlns:a16="http://schemas.microsoft.com/office/drawing/2014/main" id="{BB0A1A36-9826-42FC-8FE2-1A4CA54C41A6}"/>
              </a:ext>
            </a:extLst>
          </p:cNvPr>
          <p:cNvSpPr>
            <a:spLocks xmlns:a="http://schemas.openxmlformats.org/drawingml/2006/main" noGrp="1"/>
          </p:cNvSpPr>
          <p:nvPr/>
        </p:nvSpPr>
        <p:spPr>
          <a:xfrm xmlns:a="http://schemas.openxmlformats.org/drawingml/2006/main">
            <a:off x="9982200" y="7743825"/>
            <a:ext cx="7391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Doctor workspace and local CPU ASR.</a:t>
            </a:r>
          </a:p>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Gemma service tests and recorded evidence.</a:t>
            </a:r>
          </a:p>
        </p:txBody>
      </p:sp>
    </p:spTree>
    <p:extLst>
      <p:ext uri="{BB962C8B-B14F-4D97-AF65-F5344CB8AC3E}">
        <p14:creationId xmlns:p14="http://schemas.microsoft.com/office/powerpoint/2010/main" val="1682160383"/>
      </p:ext>
    </p:extLst>
  </p:cSld>
</p:sld>
</file>

<file path=ppt/slides/slide8.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4" name="neon-title-rule">
            <a:extLst xmlns:a="http://schemas.openxmlformats.org/drawingml/2006/main">
              <a:ext uri="{FF2B5EF4-FFF2-40B4-BE49-F238E27FC236}">
                <a16:creationId xmlns:a16="http://schemas.microsoft.com/office/drawing/2014/main" id="{460CA38B-D600-4666-8636-2BF9742F02FB}"/>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528CC82C-1E1C-45BA-A449-129796FA6F96}"/>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stStyle>
          <a:p xmlns:a="http://schemas.openxmlformats.org/drawingml/2006/main">
            <a:pPr>
              <a:defRPr sz="3900" b="1">
                <a:solidFill>
                  <a:srgbClr val="101510"/>
                </a:solidFill>
                <a:latin typeface="Inter"/>
                <a:ea typeface="Inter"/>
                <a:cs typeface="Inter"/>
              </a:defRPr>
            </a:pPr>
            <a:r>
              <a:rPr sz="3900" b="1">
                <a:solidFill>
                  <a:srgbClr val="101510"/>
                </a:solidFill>
                <a:latin typeface="Inter"/>
                <a:ea typeface="Inter"/>
                <a:cs typeface="Inter"/>
              </a:rPr>
              <a:t>A next step the practice can review</a:t>
            </a:r>
          </a:p>
        </p:txBody>
      </p:sp>
      <p:sp>
        <p:nvSpPr>
          <p:cNvPr id="3" name="slide-subtitle">
            <a:extLst xmlns:a="http://schemas.openxmlformats.org/drawingml/2006/main">
              <a:ext uri="{FF2B5EF4-FFF2-40B4-BE49-F238E27FC236}">
                <a16:creationId xmlns:a16="http://schemas.microsoft.com/office/drawing/2014/main" id="{80212FA5-4B12-47F3-BE0E-9DBA5D395DDC}"/>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Hypothesis: clearer handoffs and fewer unfinished administrative checks.</a:t>
            </a:r>
          </a:p>
        </p:txBody>
      </p:sp>
      <p:sp>
        <p:nvSpPr>
          <p:cNvPr id="4" name="footer-rule">
            <a:extLst xmlns:a="http://schemas.openxmlformats.org/drawingml/2006/main">
              <a:ext uri="{FF2B5EF4-FFF2-40B4-BE49-F238E27FC236}">
                <a16:creationId xmlns:a16="http://schemas.microsoft.com/office/drawing/2014/main" id="{C93AC3C7-A184-4F9E-9D6B-C0BB6F3E9793}"/>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D7E65CD2-3642-4A14-A763-C1A5A4577E26}"/>
              </a:ext>
            </a:extLst>
          </p:cNvPr>
          <p:cNvPicPr>
            <a:picLocks xmlns:a="http://schemas.openxmlformats.org/drawingml/2006/main" noChangeAspect="1"/>
          </p:cNvPicPr>
          <p:nvPr/>
        </p:nvPicPr>
        <p:blipFill>
          <a:blip xmlns:r="http://schemas.openxmlformats.org/officeDocument/2006/relationships" xmlns:a="http://schemas.openxmlformats.org/drawingml/2006/main" r:embed="R992bc2378c694aee"/>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D6AAB0E4-F6B1-4F64-84F9-A50E1B5D3874}"/>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stStyle>
          <a:p xmlns:a="http://schemas.openxmlformats.org/drawingml/2006/main">
            <a:pPr>
              <a:defRPr sz="1500" b="0">
                <a:solidFill>
                  <a:srgbClr val="52675B"/>
                </a:solidFill>
                <a:latin typeface="Inter"/>
                <a:ea typeface="Inter"/>
                <a:cs typeface="Inter"/>
              </a:defRPr>
            </a:pPr>
            <a:r>
              <a:rPr sz="1500" b="0">
                <a:solidFill>
                  <a:srgbClr val="52675B"/>
                </a:solidFill>
                <a:latin typeface="Inter"/>
                <a:ea typeface="Inter"/>
                <a:cs typeface="Inter"/>
              </a:rPr>
              <a:t>08</a:t>
            </a:r>
          </a:p>
        </p:txBody>
      </p:sp>
      <p:sp>
        <p:nvSpPr>
          <p:cNvPr id="7" name="value-hypothesis">
            <a:extLst xmlns:a="http://schemas.openxmlformats.org/drawingml/2006/main">
              <a:ext uri="{FF2B5EF4-FFF2-40B4-BE49-F238E27FC236}">
                <a16:creationId xmlns:a16="http://schemas.microsoft.com/office/drawing/2014/main" id="{6AB14B49-A3A0-4DC4-948F-40D0FD908849}"/>
              </a:ext>
            </a:extLst>
          </p:cNvPr>
          <p:cNvSpPr>
            <a:spLocks xmlns:a="http://schemas.openxmlformats.org/drawingml/2006/main" noGrp="1"/>
          </p:cNvSpPr>
          <p:nvPr/>
        </p:nvSpPr>
        <p:spPr>
          <a:xfrm xmlns:a="http://schemas.openxmlformats.org/drawingml/2006/main">
            <a:off x="914400" y="2724150"/>
            <a:ext cx="164592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203D32"/>
                </a:solidFill>
                <a:latin typeface="Inter"/>
                <a:ea typeface="Inter"/>
                <a:cs typeface="Inter"/>
              </a:defRPr>
            </a:defPPr>
          </a:lstStyle>
          <a:p xmlns:a="http://schemas.openxmlformats.org/drawingml/2006/main">
            <a:pPr>
              <a:defRPr sz="3150" b="1">
                <a:solidFill>
                  <a:srgbClr val="203D32"/>
                </a:solidFill>
                <a:latin typeface="Inter"/>
                <a:ea typeface="Inter"/>
                <a:cs typeface="Inter"/>
              </a:defRPr>
            </a:pPr>
            <a:r>
              <a:rPr sz="3150" b="1">
                <a:solidFill>
                  <a:srgbClr val="203D32"/>
                </a:solidFill>
                <a:latin typeface="Inter"/>
                <a:ea typeface="Inter"/>
                <a:cs typeface="Inter"/>
              </a:rPr>
              <a:t>The doctor retains control.</a:t>
            </a:r>
          </a:p>
          <a:p xmlns:a="http://schemas.openxmlformats.org/drawingml/2006/main">
            <a:pPr>
              <a:defRPr sz="3150" b="1">
                <a:solidFill>
                  <a:srgbClr val="203D32"/>
                </a:solidFill>
                <a:latin typeface="Inter"/>
                <a:ea typeface="Inter"/>
                <a:cs typeface="Inter"/>
              </a:defRPr>
            </a:pPr>
            <a:r>
              <a:rPr sz="3150" b="1">
                <a:solidFill>
                  <a:srgbClr val="203D32"/>
                </a:solidFill>
                <a:latin typeface="Inter"/>
                <a:ea typeface="Inter"/>
                <a:cs typeface="Inter"/>
              </a:rPr>
              <a:t>The practice receives a source-linked draft</a:t>
            </a:r>
          </a:p>
          <a:p xmlns:a="http://schemas.openxmlformats.org/drawingml/2006/main">
            <a:pPr>
              <a:defRPr sz="3150" b="1">
                <a:solidFill>
                  <a:srgbClr val="203D32"/>
                </a:solidFill>
                <a:latin typeface="Inter"/>
                <a:ea typeface="Inter"/>
                <a:cs typeface="Inter"/>
              </a:defRPr>
            </a:pPr>
            <a:r>
              <a:rPr sz="3150" b="1">
                <a:solidFill>
                  <a:srgbClr val="203D32"/>
                </a:solidFill>
                <a:latin typeface="Inter"/>
                <a:ea typeface="Inter"/>
                <a:cs typeface="Inter"/>
              </a:rPr>
              <a:t>and visible pending work.</a:t>
            </a:r>
          </a:p>
        </p:txBody>
      </p:sp>
      <p:sp>
        <p:nvSpPr>
          <p:cNvPr id="8" name="technical-evidence">
            <a:extLst xmlns:a="http://schemas.openxmlformats.org/drawingml/2006/main">
              <a:ext uri="{FF2B5EF4-FFF2-40B4-BE49-F238E27FC236}">
                <a16:creationId xmlns:a16="http://schemas.microsoft.com/office/drawing/2014/main" id="{E9184AA3-C72D-401B-A5C2-45F7535FA29C}"/>
              </a:ext>
            </a:extLst>
          </p:cNvPr>
          <p:cNvSpPr>
            <a:spLocks xmlns:a="http://schemas.openxmlformats.org/drawingml/2006/main" noGrp="1"/>
          </p:cNvSpPr>
          <p:nvPr/>
        </p:nvSpPr>
        <p:spPr>
          <a:xfrm xmlns:a="http://schemas.openxmlformats.org/drawingml/2006/main">
            <a:off x="914400" y="4676775"/>
            <a:ext cx="164592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Technical evidence: real local ASR, persisted fictional state and recorded AMD queries.</a:t>
            </a:r>
          </a:p>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Operational savings and clinical outcomes remain unmeasured.</a:t>
            </a:r>
          </a:p>
        </p:txBody>
      </p:sp>
      <p:sp>
        <p:nvSpPr>
          <p:cNvPr id="9" name="demo-label">
            <a:extLst xmlns:a="http://schemas.openxmlformats.org/drawingml/2006/main">
              <a:ext uri="{FF2B5EF4-FFF2-40B4-BE49-F238E27FC236}">
                <a16:creationId xmlns:a16="http://schemas.microsoft.com/office/drawing/2014/main" id="{088D173C-4A70-49CB-8557-1BADC15FC774}"/>
              </a:ext>
            </a:extLst>
          </p:cNvPr>
          <p:cNvSpPr>
            <a:spLocks xmlns:a="http://schemas.openxmlformats.org/drawingml/2006/main" noGrp="1"/>
          </p:cNvSpPr>
          <p:nvPr/>
        </p:nvSpPr>
        <p:spPr>
          <a:xfrm xmlns:a="http://schemas.openxmlformats.org/drawingml/2006/main">
            <a:off x="914400" y="6086475"/>
            <a:ext cx="16459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52675B"/>
                </a:solidFill>
                <a:latin typeface="Inter"/>
                <a:ea typeface="Inter"/>
                <a:cs typeface="Inter"/>
              </a:defRPr>
            </a:defPPr>
          </a:lstStyle>
          <a:p xmlns:a="http://schemas.openxmlformats.org/drawingml/2006/main">
            <a:pPr>
              <a:defRPr sz="1500" b="1">
                <a:solidFill>
                  <a:srgbClr val="52675B"/>
                </a:solidFill>
                <a:latin typeface="Inter"/>
                <a:ea typeface="Inter"/>
                <a:cs typeface="Inter"/>
              </a:defRPr>
            </a:pPr>
            <a:r>
              <a:rPr sz="1500" b="1">
                <a:solidFill>
                  <a:srgbClr val="52675B"/>
                </a:solidFill>
                <a:latin typeface="Inter"/>
                <a:ea typeface="Inter"/>
                <a:cs typeface="Inter"/>
              </a:rPr>
              <a:t>PUBLIC DEMO</a:t>
            </a:r>
          </a:p>
        </p:txBody>
      </p:sp>
      <p:sp>
        <p:nvSpPr>
          <p:cNvPr id="10" name="demo-link">
            <a:extLst xmlns:a="http://schemas.openxmlformats.org/drawingml/2006/main">
              <a:ext uri="{FF2B5EF4-FFF2-40B4-BE49-F238E27FC236}">
                <a16:creationId xmlns:a16="http://schemas.microsoft.com/office/drawing/2014/main" id="{7622C157-9E2F-42EA-9C5F-2388F4CC2624}"/>
              </a:ext>
            </a:extLst>
          </p:cNvPr>
          <p:cNvSpPr>
            <a:spLocks xmlns:a="http://schemas.openxmlformats.org/drawingml/2006/main" noGrp="1"/>
          </p:cNvSpPr>
          <p:nvPr/>
        </p:nvSpPr>
        <p:spPr>
          <a:xfrm xmlns:a="http://schemas.openxmlformats.org/drawingml/2006/main">
            <a:off x="914400" y="6562725"/>
            <a:ext cx="1645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203D32"/>
                </a:solidFill>
                <a:latin typeface="Inter"/>
                <a:ea typeface="Inter"/>
                <a:cs typeface="Inter"/>
              </a:defRPr>
            </a:defPPr>
          </a:lstStyle>
          <a:p xmlns:a="http://schemas.openxmlformats.org/drawingml/2006/main">
            <a:pPr>
              <a:defRPr sz="2625" b="0">
                <a:solidFill>
                  <a:srgbClr val="203D32"/>
                </a:solidFill>
                <a:latin typeface="Inter"/>
                <a:ea typeface="Inter"/>
                <a:cs typeface="Inter"/>
              </a:defRPr>
            </a:pPr>
            <a:r>
              <a:rPr sz="2625" b="0" u="sng">
                <a:solidFill>
                  <a:srgbClr val="203D32"/>
                </a:solidFill>
                <a:latin typeface="Inter"/>
                <a:ea typeface="Inter"/>
                <a:cs typeface="Inter"/>
                <a:hlinkClick xmlns:r="http://schemas.openxmlformats.org/officeDocument/2006/relationships" r:id="Rbc8674e94aac4ebe"/>
              </a:rPr>
              <a:t>athosfif.github.io/patientkeeper-retorno-act-iii/</a:t>
            </a:r>
          </a:p>
        </p:txBody>
      </p:sp>
      <p:sp>
        <p:nvSpPr>
          <p:cNvPr id="11" name="repository-label">
            <a:extLst xmlns:a="http://schemas.openxmlformats.org/drawingml/2006/main">
              <a:ext uri="{FF2B5EF4-FFF2-40B4-BE49-F238E27FC236}">
                <a16:creationId xmlns:a16="http://schemas.microsoft.com/office/drawing/2014/main" id="{403809C0-43F3-4D8E-9769-98BA9B55A12E}"/>
              </a:ext>
            </a:extLst>
          </p:cNvPr>
          <p:cNvSpPr>
            <a:spLocks xmlns:a="http://schemas.openxmlformats.org/drawingml/2006/main" noGrp="1"/>
          </p:cNvSpPr>
          <p:nvPr/>
        </p:nvSpPr>
        <p:spPr>
          <a:xfrm xmlns:a="http://schemas.openxmlformats.org/drawingml/2006/main">
            <a:off x="914400" y="7591425"/>
            <a:ext cx="16459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52675B"/>
                </a:solidFill>
                <a:latin typeface="Inter"/>
                <a:ea typeface="Inter"/>
                <a:cs typeface="Inter"/>
              </a:defRPr>
            </a:defPPr>
          </a:lstStyle>
          <a:p xmlns:a="http://schemas.openxmlformats.org/drawingml/2006/main">
            <a:pPr>
              <a:defRPr sz="1500" b="1">
                <a:solidFill>
                  <a:srgbClr val="52675B"/>
                </a:solidFill>
                <a:latin typeface="Inter"/>
                <a:ea typeface="Inter"/>
                <a:cs typeface="Inter"/>
              </a:defRPr>
            </a:pPr>
            <a:r>
              <a:rPr sz="1500" b="1">
                <a:solidFill>
                  <a:srgbClr val="52675B"/>
                </a:solidFill>
                <a:latin typeface="Inter"/>
                <a:ea typeface="Inter"/>
                <a:cs typeface="Inter"/>
              </a:rPr>
              <a:t>SOURCE CODE</a:t>
            </a:r>
          </a:p>
        </p:txBody>
      </p:sp>
      <p:sp>
        <p:nvSpPr>
          <p:cNvPr id="12" name="repository-link">
            <a:extLst xmlns:a="http://schemas.openxmlformats.org/drawingml/2006/main">
              <a:ext uri="{FF2B5EF4-FFF2-40B4-BE49-F238E27FC236}">
                <a16:creationId xmlns:a16="http://schemas.microsoft.com/office/drawing/2014/main" id="{E7CC0EF9-1536-4B8A-857B-3006A77E5894}"/>
              </a:ext>
            </a:extLst>
          </p:cNvPr>
          <p:cNvSpPr>
            <a:spLocks xmlns:a="http://schemas.openxmlformats.org/drawingml/2006/main" noGrp="1"/>
          </p:cNvSpPr>
          <p:nvPr/>
        </p:nvSpPr>
        <p:spPr>
          <a:xfrm xmlns:a="http://schemas.openxmlformats.org/drawingml/2006/main">
            <a:off x="914400" y="8067675"/>
            <a:ext cx="1645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203D32"/>
                </a:solidFill>
                <a:latin typeface="Inter"/>
                <a:ea typeface="Inter"/>
                <a:cs typeface="Inter"/>
              </a:defRPr>
            </a:defPPr>
          </a:lstStyle>
          <a:p xmlns:a="http://schemas.openxmlformats.org/drawingml/2006/main">
            <a:pPr>
              <a:defRPr sz="2625" b="0">
                <a:solidFill>
                  <a:srgbClr val="203D32"/>
                </a:solidFill>
                <a:latin typeface="Inter"/>
                <a:ea typeface="Inter"/>
                <a:cs typeface="Inter"/>
              </a:defRPr>
            </a:pPr>
            <a:r>
              <a:rPr sz="2625" b="0" u="sng">
                <a:solidFill>
                  <a:srgbClr val="203D32"/>
                </a:solidFill>
                <a:latin typeface="Inter"/>
                <a:ea typeface="Inter"/>
                <a:cs typeface="Inter"/>
                <a:hlinkClick xmlns:r="http://schemas.openxmlformats.org/officeDocument/2006/relationships" r:id="R1648752d96e14c2d"/>
              </a:rPr>
              <a:t>github.com/athosfif/patientkeeper-retorno-act-iii</a:t>
            </a:r>
          </a:p>
        </p:txBody>
      </p:sp>
      <p:sp>
        <p:nvSpPr>
          <p:cNvPr id="13" name="evaluation-next">
            <a:extLst xmlns:a="http://schemas.openxmlformats.org/drawingml/2006/main">
              <a:ext uri="{FF2B5EF4-FFF2-40B4-BE49-F238E27FC236}">
                <a16:creationId xmlns:a16="http://schemas.microsoft.com/office/drawing/2014/main" id="{1A86C731-7922-46D5-92CE-52005278764A}"/>
              </a:ext>
            </a:extLst>
          </p:cNvPr>
          <p:cNvSpPr>
            <a:spLocks xmlns:a="http://schemas.openxmlformats.org/drawingml/2006/main" noGrp="1"/>
          </p:cNvSpPr>
          <p:nvPr/>
        </p:nvSpPr>
        <p:spPr>
          <a:xfrm xmlns:a="http://schemas.openxmlformats.org/drawingml/2006/main">
            <a:off x="914400" y="8943975"/>
            <a:ext cx="1645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75B"/>
                </a:solidFill>
                <a:latin typeface="Inter"/>
                <a:ea typeface="Inter"/>
                <a:cs typeface="Inter"/>
              </a:defRPr>
            </a:defPPr>
          </a:lstStyle>
          <a:p xmlns:a="http://schemas.openxmlformats.org/drawingml/2006/main">
            <a:pPr>
              <a:defRPr sz="1800" b="0">
                <a:solidFill>
                  <a:srgbClr val="52675B"/>
                </a:solidFill>
                <a:latin typeface="Inter"/>
                <a:ea typeface="Inter"/>
                <a:cs typeface="Inter"/>
              </a:defRPr>
            </a:pPr>
            <a:r>
              <a:rPr sz="1800" b="0">
                <a:solidFill>
                  <a:srgbClr val="52675B"/>
                </a:solidFill>
                <a:latin typeface="Inter"/>
                <a:ea typeface="Inter"/>
                <a:cs typeface="Inter"/>
              </a:rPr>
              <a:t>Next evaluation: completion time and rework in comparable fictional tasks.</a:t>
            </a:r>
          </a:p>
        </p:txBody>
      </p:sp>
    </p:spTree>
    <p:extLst>
      <p:ext uri="{BB962C8B-B14F-4D97-AF65-F5344CB8AC3E}">
        <p14:creationId xmlns:p14="http://schemas.microsoft.com/office/powerpoint/2010/main" val="4675295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2026-10-14T23:33:36.7350000Z</dcterms:created>
  <dcterms:modified xsi:type="dcterms:W3CDTF">2026-10-14T23:33:36.7360000Z</dcterms:modified>
</coreProperties>
</file>